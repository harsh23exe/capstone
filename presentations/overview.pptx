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9"/>
    <p:restoredTop sz="58859"/>
  </p:normalViewPr>
  <p:slideViewPr>
    <p:cSldViewPr snapToGrid="0">
      <p:cViewPr varScale="1">
        <p:scale>
          <a:sx n="73" d="100"/>
          <a:sy n="73" d="100"/>
        </p:scale>
        <p:origin x="20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BFF132-0FE3-4CDA-8579-AB79236E673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85A1A4-F0F5-486D-BDF4-8F503831BA8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1" dirty="0"/>
            <a:t>POST-TRANSLATIONAL MODIFICATIONS (PTMs)</a:t>
          </a:r>
          <a:r>
            <a:rPr lang="en-US" sz="1800" dirty="0"/>
            <a:t> are chemical changes added </a:t>
          </a:r>
          <a:r>
            <a:rPr lang="en-US" sz="1800" i="1" dirty="0"/>
            <a:t>after</a:t>
          </a:r>
          <a:r>
            <a:rPr lang="en-US" sz="1800" dirty="0"/>
            <a:t> the protein is made</a:t>
          </a:r>
        </a:p>
      </dgm:t>
    </dgm:pt>
    <dgm:pt modelId="{54D1BBE1-CDBF-470F-87EF-16BA0E11578D}" type="parTrans" cxnId="{583988B3-2661-4426-9812-3EB61F26E265}">
      <dgm:prSet/>
      <dgm:spPr/>
      <dgm:t>
        <a:bodyPr/>
        <a:lstStyle/>
        <a:p>
          <a:endParaRPr lang="en-US"/>
        </a:p>
      </dgm:t>
    </dgm:pt>
    <dgm:pt modelId="{A7293A55-C59A-47C8-BACC-E535F8D8B885}" type="sibTrans" cxnId="{583988B3-2661-4426-9812-3EB61F26E265}">
      <dgm:prSet/>
      <dgm:spPr/>
      <dgm:t>
        <a:bodyPr/>
        <a:lstStyle/>
        <a:p>
          <a:endParaRPr lang="en-US"/>
        </a:p>
      </dgm:t>
    </dgm:pt>
    <dgm:pt modelId="{B03D2AF3-9B04-42D0-A411-266BAC705B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PTMs control </a:t>
          </a:r>
          <a:r>
            <a:rPr lang="en-US" b="1"/>
            <a:t>protein function</a:t>
          </a:r>
          <a:r>
            <a:rPr lang="en-US"/>
            <a:t>, </a:t>
          </a:r>
          <a:r>
            <a:rPr lang="en-US" b="1"/>
            <a:t>signaling</a:t>
          </a:r>
          <a:r>
            <a:rPr lang="en-US"/>
            <a:t>, </a:t>
          </a:r>
          <a:r>
            <a:rPr lang="en-US" b="1"/>
            <a:t>stability</a:t>
          </a:r>
          <a:r>
            <a:rPr lang="en-US"/>
            <a:t>, and are critical in </a:t>
          </a:r>
          <a:r>
            <a:rPr lang="en-US" b="1"/>
            <a:t>disease mechanisms</a:t>
          </a:r>
          <a:endParaRPr lang="en-US"/>
        </a:p>
      </dgm:t>
    </dgm:pt>
    <dgm:pt modelId="{EA04C464-5572-4912-8882-CC946209CA54}" type="parTrans" cxnId="{77563608-E8F9-426D-9839-B83A94FB4473}">
      <dgm:prSet/>
      <dgm:spPr/>
      <dgm:t>
        <a:bodyPr/>
        <a:lstStyle/>
        <a:p>
          <a:endParaRPr lang="en-US"/>
        </a:p>
      </dgm:t>
    </dgm:pt>
    <dgm:pt modelId="{88CB4D63-915A-46FB-9837-15C8FBA36A41}" type="sibTrans" cxnId="{77563608-E8F9-426D-9839-B83A94FB4473}">
      <dgm:prSet/>
      <dgm:spPr/>
      <dgm:t>
        <a:bodyPr/>
        <a:lstStyle/>
        <a:p>
          <a:endParaRPr lang="en-US"/>
        </a:p>
      </dgm:t>
    </dgm:pt>
    <dgm:pt modelId="{C4B2D234-6D5D-4788-B04E-DA8E6FDB95DE}" type="pres">
      <dgm:prSet presAssocID="{53BFF132-0FE3-4CDA-8579-AB79236E6731}" presName="root" presStyleCnt="0">
        <dgm:presLayoutVars>
          <dgm:dir/>
          <dgm:resizeHandles val="exact"/>
        </dgm:presLayoutVars>
      </dgm:prSet>
      <dgm:spPr/>
    </dgm:pt>
    <dgm:pt modelId="{A9D399EA-288A-4564-A610-80978953282E}" type="pres">
      <dgm:prSet presAssocID="{0785A1A4-F0F5-486D-BDF4-8F503831BA87}" presName="compNode" presStyleCnt="0"/>
      <dgm:spPr/>
    </dgm:pt>
    <dgm:pt modelId="{3EA2078A-5AEF-4603-B8D8-7DA366B5C286}" type="pres">
      <dgm:prSet presAssocID="{0785A1A4-F0F5-486D-BDF4-8F503831BA87}" presName="bgRect" presStyleLbl="bgShp" presStyleIdx="0" presStyleCnt="2" custLinFactNeighborX="52952" custLinFactNeighborY="-7647"/>
      <dgm:spPr/>
    </dgm:pt>
    <dgm:pt modelId="{B75D6E70-7D45-45F4-A0C1-600A1A38D1CF}" type="pres">
      <dgm:prSet presAssocID="{0785A1A4-F0F5-486D-BDF4-8F503831BA8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4E00B621-3010-436F-BE19-8D9497AB3367}" type="pres">
      <dgm:prSet presAssocID="{0785A1A4-F0F5-486D-BDF4-8F503831BA87}" presName="spaceRect" presStyleCnt="0"/>
      <dgm:spPr/>
    </dgm:pt>
    <dgm:pt modelId="{B2CA6CF3-A729-4CE1-ACC8-106A6E903BC2}" type="pres">
      <dgm:prSet presAssocID="{0785A1A4-F0F5-486D-BDF4-8F503831BA87}" presName="parTx" presStyleLbl="revTx" presStyleIdx="0" presStyleCnt="2">
        <dgm:presLayoutVars>
          <dgm:chMax val="0"/>
          <dgm:chPref val="0"/>
        </dgm:presLayoutVars>
      </dgm:prSet>
      <dgm:spPr/>
    </dgm:pt>
    <dgm:pt modelId="{0D234693-3372-4CFA-BF05-4AF08D3BA620}" type="pres">
      <dgm:prSet presAssocID="{A7293A55-C59A-47C8-BACC-E535F8D8B885}" presName="sibTrans" presStyleCnt="0"/>
      <dgm:spPr/>
    </dgm:pt>
    <dgm:pt modelId="{06B0F18C-DCF8-4F24-9B46-B4E28DA0AE7E}" type="pres">
      <dgm:prSet presAssocID="{B03D2AF3-9B04-42D0-A411-266BAC705B89}" presName="compNode" presStyleCnt="0"/>
      <dgm:spPr/>
    </dgm:pt>
    <dgm:pt modelId="{E208425D-C361-45C7-BA2C-EEA3A8A3FD71}" type="pres">
      <dgm:prSet presAssocID="{B03D2AF3-9B04-42D0-A411-266BAC705B89}" presName="bgRect" presStyleLbl="bgShp" presStyleIdx="1" presStyleCnt="2"/>
      <dgm:spPr/>
    </dgm:pt>
    <dgm:pt modelId="{183A571A-74D3-4D41-B89A-C5D14AA60FA4}" type="pres">
      <dgm:prSet presAssocID="{B03D2AF3-9B04-42D0-A411-266BAC705B8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DB310484-4799-41A6-9B69-FDCDE057450F}" type="pres">
      <dgm:prSet presAssocID="{B03D2AF3-9B04-42D0-A411-266BAC705B89}" presName="spaceRect" presStyleCnt="0"/>
      <dgm:spPr/>
    </dgm:pt>
    <dgm:pt modelId="{6572CECA-D9F2-4253-9803-4A53E4CB9FE2}" type="pres">
      <dgm:prSet presAssocID="{B03D2AF3-9B04-42D0-A411-266BAC705B8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BAAAA602-A91D-406D-BD96-0A7A08987A70}" type="presOf" srcId="{B03D2AF3-9B04-42D0-A411-266BAC705B89}" destId="{6572CECA-D9F2-4253-9803-4A53E4CB9FE2}" srcOrd="0" destOrd="0" presId="urn:microsoft.com/office/officeart/2018/2/layout/IconVerticalSolidList"/>
    <dgm:cxn modelId="{77563608-E8F9-426D-9839-B83A94FB4473}" srcId="{53BFF132-0FE3-4CDA-8579-AB79236E6731}" destId="{B03D2AF3-9B04-42D0-A411-266BAC705B89}" srcOrd="1" destOrd="0" parTransId="{EA04C464-5572-4912-8882-CC946209CA54}" sibTransId="{88CB4D63-915A-46FB-9837-15C8FBA36A41}"/>
    <dgm:cxn modelId="{6925623A-E52C-4EBB-94FB-0F07253A267E}" type="presOf" srcId="{0785A1A4-F0F5-486D-BDF4-8F503831BA87}" destId="{B2CA6CF3-A729-4CE1-ACC8-106A6E903BC2}" srcOrd="0" destOrd="0" presId="urn:microsoft.com/office/officeart/2018/2/layout/IconVerticalSolidList"/>
    <dgm:cxn modelId="{9ABBC981-9204-4D98-9262-624A5CF44BF0}" type="presOf" srcId="{53BFF132-0FE3-4CDA-8579-AB79236E6731}" destId="{C4B2D234-6D5D-4788-B04E-DA8E6FDB95DE}" srcOrd="0" destOrd="0" presId="urn:microsoft.com/office/officeart/2018/2/layout/IconVerticalSolidList"/>
    <dgm:cxn modelId="{583988B3-2661-4426-9812-3EB61F26E265}" srcId="{53BFF132-0FE3-4CDA-8579-AB79236E6731}" destId="{0785A1A4-F0F5-486D-BDF4-8F503831BA87}" srcOrd="0" destOrd="0" parTransId="{54D1BBE1-CDBF-470F-87EF-16BA0E11578D}" sibTransId="{A7293A55-C59A-47C8-BACC-E535F8D8B885}"/>
    <dgm:cxn modelId="{C2115900-978C-42B6-A46F-32661EBCC6A6}" type="presParOf" srcId="{C4B2D234-6D5D-4788-B04E-DA8E6FDB95DE}" destId="{A9D399EA-288A-4564-A610-80978953282E}" srcOrd="0" destOrd="0" presId="urn:microsoft.com/office/officeart/2018/2/layout/IconVerticalSolidList"/>
    <dgm:cxn modelId="{C417CF7C-BBAE-43FD-B743-2BD4CB2B67B3}" type="presParOf" srcId="{A9D399EA-288A-4564-A610-80978953282E}" destId="{3EA2078A-5AEF-4603-B8D8-7DA366B5C286}" srcOrd="0" destOrd="0" presId="urn:microsoft.com/office/officeart/2018/2/layout/IconVerticalSolidList"/>
    <dgm:cxn modelId="{C0A98AFF-FFDC-43CE-94CD-27DB75F0193D}" type="presParOf" srcId="{A9D399EA-288A-4564-A610-80978953282E}" destId="{B75D6E70-7D45-45F4-A0C1-600A1A38D1CF}" srcOrd="1" destOrd="0" presId="urn:microsoft.com/office/officeart/2018/2/layout/IconVerticalSolidList"/>
    <dgm:cxn modelId="{06DD9BAC-C0F9-4388-837F-D74953C9283F}" type="presParOf" srcId="{A9D399EA-288A-4564-A610-80978953282E}" destId="{4E00B621-3010-436F-BE19-8D9497AB3367}" srcOrd="2" destOrd="0" presId="urn:microsoft.com/office/officeart/2018/2/layout/IconVerticalSolidList"/>
    <dgm:cxn modelId="{399F994C-538B-4421-A31E-200CE7ECD015}" type="presParOf" srcId="{A9D399EA-288A-4564-A610-80978953282E}" destId="{B2CA6CF3-A729-4CE1-ACC8-106A6E903BC2}" srcOrd="3" destOrd="0" presId="urn:microsoft.com/office/officeart/2018/2/layout/IconVerticalSolidList"/>
    <dgm:cxn modelId="{6001BD53-97C0-4EE1-A582-EA0B326A1B3D}" type="presParOf" srcId="{C4B2D234-6D5D-4788-B04E-DA8E6FDB95DE}" destId="{0D234693-3372-4CFA-BF05-4AF08D3BA620}" srcOrd="1" destOrd="0" presId="urn:microsoft.com/office/officeart/2018/2/layout/IconVerticalSolidList"/>
    <dgm:cxn modelId="{E85BF694-372E-42B3-AC55-92908B1FCC0E}" type="presParOf" srcId="{C4B2D234-6D5D-4788-B04E-DA8E6FDB95DE}" destId="{06B0F18C-DCF8-4F24-9B46-B4E28DA0AE7E}" srcOrd="2" destOrd="0" presId="urn:microsoft.com/office/officeart/2018/2/layout/IconVerticalSolidList"/>
    <dgm:cxn modelId="{20E0D71B-870C-4C09-95A4-166B58E96226}" type="presParOf" srcId="{06B0F18C-DCF8-4F24-9B46-B4E28DA0AE7E}" destId="{E208425D-C361-45C7-BA2C-EEA3A8A3FD71}" srcOrd="0" destOrd="0" presId="urn:microsoft.com/office/officeart/2018/2/layout/IconVerticalSolidList"/>
    <dgm:cxn modelId="{E71297DE-FC12-43B2-AFAA-19A8DF1ACAF1}" type="presParOf" srcId="{06B0F18C-DCF8-4F24-9B46-B4E28DA0AE7E}" destId="{183A571A-74D3-4D41-B89A-C5D14AA60FA4}" srcOrd="1" destOrd="0" presId="urn:microsoft.com/office/officeart/2018/2/layout/IconVerticalSolidList"/>
    <dgm:cxn modelId="{CC8B5719-EAE9-4E54-8C04-D68A9AC14865}" type="presParOf" srcId="{06B0F18C-DCF8-4F24-9B46-B4E28DA0AE7E}" destId="{DB310484-4799-41A6-9B69-FDCDE057450F}" srcOrd="2" destOrd="0" presId="urn:microsoft.com/office/officeart/2018/2/layout/IconVerticalSolidList"/>
    <dgm:cxn modelId="{CD36301A-F2E5-47EA-B482-63881CA3E2EC}" type="presParOf" srcId="{06B0F18C-DCF8-4F24-9B46-B4E28DA0AE7E}" destId="{6572CECA-D9F2-4253-9803-4A53E4CB9FE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77A6CE-1CE3-6D47-99B1-1C13AA6B592E}" type="doc">
      <dgm:prSet loTypeId="urn:microsoft.com/office/officeart/2005/8/layout/default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C20A29D-A9D6-BC49-BA8B-0D654EE988EA}">
      <dgm:prSet phldrT="[Text]"/>
      <dgm:spPr/>
      <dgm:t>
        <a:bodyPr/>
        <a:lstStyle/>
        <a:p>
          <a:r>
            <a:rPr lang="en-US" b="1" dirty="0"/>
            <a:t>STATE SPACE MODELS </a:t>
          </a:r>
          <a:r>
            <a:rPr lang="en-US" dirty="0"/>
            <a:t>(SSMs)</a:t>
          </a:r>
        </a:p>
        <a:p>
          <a:r>
            <a:rPr lang="en-US" i="1" dirty="0"/>
            <a:t>efficient for long sequences, captures long-range context, linear-time scanning</a:t>
          </a:r>
          <a:endParaRPr lang="en-US" dirty="0"/>
        </a:p>
      </dgm:t>
    </dgm:pt>
    <dgm:pt modelId="{EF097972-83EB-494A-842A-337EC2040851}" type="parTrans" cxnId="{8AEAB183-63AB-6E41-B708-9795D9A8504D}">
      <dgm:prSet/>
      <dgm:spPr/>
      <dgm:t>
        <a:bodyPr/>
        <a:lstStyle/>
        <a:p>
          <a:endParaRPr lang="en-US"/>
        </a:p>
      </dgm:t>
    </dgm:pt>
    <dgm:pt modelId="{1A98DC9F-E0EB-654A-93A2-EB661095E1AA}" type="sibTrans" cxnId="{8AEAB183-63AB-6E41-B708-9795D9A8504D}">
      <dgm:prSet/>
      <dgm:spPr/>
      <dgm:t>
        <a:bodyPr/>
        <a:lstStyle/>
        <a:p>
          <a:endParaRPr lang="en-US"/>
        </a:p>
      </dgm:t>
    </dgm:pt>
    <dgm:pt modelId="{B26AADB8-F978-EF40-9954-9F14B50AB4BB}">
      <dgm:prSet phldrT="[Text]"/>
      <dgm:spPr/>
      <dgm:t>
        <a:bodyPr/>
        <a:lstStyle/>
        <a:p>
          <a:pPr>
            <a:buFont typeface="+mj-lt"/>
            <a:buAutoNum type="arabicPeriod" startAt="2"/>
          </a:pPr>
          <a:r>
            <a:rPr lang="en-US" b="1" dirty="0"/>
            <a:t>RNN-STYLE GATING</a:t>
          </a:r>
          <a:r>
            <a:rPr lang="en-US" dirty="0"/>
            <a:t>   </a:t>
          </a:r>
          <a:r>
            <a:rPr lang="en-US" i="1" dirty="0"/>
            <a:t>selective memory, filters noise, strong sequential inductive bias</a:t>
          </a:r>
          <a:endParaRPr lang="en-US" dirty="0"/>
        </a:p>
      </dgm:t>
    </dgm:pt>
    <dgm:pt modelId="{80B16D31-32AD-5442-95DE-A46C2C756139}" type="parTrans" cxnId="{44615739-88D8-E541-8BBA-61006107CFD9}">
      <dgm:prSet/>
      <dgm:spPr/>
      <dgm:t>
        <a:bodyPr/>
        <a:lstStyle/>
        <a:p>
          <a:endParaRPr lang="en-US"/>
        </a:p>
      </dgm:t>
    </dgm:pt>
    <dgm:pt modelId="{8D18BF3F-82AA-F745-8830-B5C1D5E69086}" type="sibTrans" cxnId="{44615739-88D8-E541-8BBA-61006107CFD9}">
      <dgm:prSet/>
      <dgm:spPr/>
      <dgm:t>
        <a:bodyPr/>
        <a:lstStyle/>
        <a:p>
          <a:endParaRPr lang="en-US"/>
        </a:p>
      </dgm:t>
    </dgm:pt>
    <dgm:pt modelId="{F3039FFD-BBE8-F147-B2BD-F8425DBA5706}" type="pres">
      <dgm:prSet presAssocID="{4677A6CE-1CE3-6D47-99B1-1C13AA6B592E}" presName="diagram" presStyleCnt="0">
        <dgm:presLayoutVars>
          <dgm:dir/>
          <dgm:resizeHandles val="exact"/>
        </dgm:presLayoutVars>
      </dgm:prSet>
      <dgm:spPr/>
    </dgm:pt>
    <dgm:pt modelId="{DE43AD75-90D8-C84A-B6DB-62BACEE32978}" type="pres">
      <dgm:prSet presAssocID="{EC20A29D-A9D6-BC49-BA8B-0D654EE988EA}" presName="node" presStyleLbl="node1" presStyleIdx="0" presStyleCnt="2" custLinFactNeighborY="13800">
        <dgm:presLayoutVars>
          <dgm:bulletEnabled val="1"/>
        </dgm:presLayoutVars>
      </dgm:prSet>
      <dgm:spPr/>
    </dgm:pt>
    <dgm:pt modelId="{AA295A50-8FB0-7847-80BE-F9F681942AF0}" type="pres">
      <dgm:prSet presAssocID="{1A98DC9F-E0EB-654A-93A2-EB661095E1AA}" presName="sibTrans" presStyleCnt="0"/>
      <dgm:spPr/>
    </dgm:pt>
    <dgm:pt modelId="{B24504F0-54CA-7248-8D5D-6FFACCAC01A5}" type="pres">
      <dgm:prSet presAssocID="{B26AADB8-F978-EF40-9954-9F14B50AB4BB}" presName="node" presStyleLbl="node1" presStyleIdx="1" presStyleCnt="2">
        <dgm:presLayoutVars>
          <dgm:bulletEnabled val="1"/>
        </dgm:presLayoutVars>
      </dgm:prSet>
      <dgm:spPr/>
    </dgm:pt>
  </dgm:ptLst>
  <dgm:cxnLst>
    <dgm:cxn modelId="{2CC06306-7A0E-EE48-AB90-8F162EE6F4CF}" type="presOf" srcId="{4677A6CE-1CE3-6D47-99B1-1C13AA6B592E}" destId="{F3039FFD-BBE8-F147-B2BD-F8425DBA5706}" srcOrd="0" destOrd="0" presId="urn:microsoft.com/office/officeart/2005/8/layout/default"/>
    <dgm:cxn modelId="{44615739-88D8-E541-8BBA-61006107CFD9}" srcId="{4677A6CE-1CE3-6D47-99B1-1C13AA6B592E}" destId="{B26AADB8-F978-EF40-9954-9F14B50AB4BB}" srcOrd="1" destOrd="0" parTransId="{80B16D31-32AD-5442-95DE-A46C2C756139}" sibTransId="{8D18BF3F-82AA-F745-8830-B5C1D5E69086}"/>
    <dgm:cxn modelId="{8AEAB183-63AB-6E41-B708-9795D9A8504D}" srcId="{4677A6CE-1CE3-6D47-99B1-1C13AA6B592E}" destId="{EC20A29D-A9D6-BC49-BA8B-0D654EE988EA}" srcOrd="0" destOrd="0" parTransId="{EF097972-83EB-494A-842A-337EC2040851}" sibTransId="{1A98DC9F-E0EB-654A-93A2-EB661095E1AA}"/>
    <dgm:cxn modelId="{018F9388-3D6E-0C43-9B22-0971F41454AA}" type="presOf" srcId="{B26AADB8-F978-EF40-9954-9F14B50AB4BB}" destId="{B24504F0-54CA-7248-8D5D-6FFACCAC01A5}" srcOrd="0" destOrd="0" presId="urn:microsoft.com/office/officeart/2005/8/layout/default"/>
    <dgm:cxn modelId="{0C03C2E3-BE47-DF4D-B0C2-284C2342A416}" type="presOf" srcId="{EC20A29D-A9D6-BC49-BA8B-0D654EE988EA}" destId="{DE43AD75-90D8-C84A-B6DB-62BACEE32978}" srcOrd="0" destOrd="0" presId="urn:microsoft.com/office/officeart/2005/8/layout/default"/>
    <dgm:cxn modelId="{C94EF3D6-04A7-2046-B6A3-0203C8AC7D28}" type="presParOf" srcId="{F3039FFD-BBE8-F147-B2BD-F8425DBA5706}" destId="{DE43AD75-90D8-C84A-B6DB-62BACEE32978}" srcOrd="0" destOrd="0" presId="urn:microsoft.com/office/officeart/2005/8/layout/default"/>
    <dgm:cxn modelId="{8675A8E0-F3EB-F24F-8CFC-74BFBEC24DE5}" type="presParOf" srcId="{F3039FFD-BBE8-F147-B2BD-F8425DBA5706}" destId="{AA295A50-8FB0-7847-80BE-F9F681942AF0}" srcOrd="1" destOrd="0" presId="urn:microsoft.com/office/officeart/2005/8/layout/default"/>
    <dgm:cxn modelId="{718709FE-3E1F-B043-AEEC-A5F9DF27352D}" type="presParOf" srcId="{F3039FFD-BBE8-F147-B2BD-F8425DBA5706}" destId="{B24504F0-54CA-7248-8D5D-6FFACCAC01A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A2078A-5AEF-4603-B8D8-7DA366B5C286}">
      <dsp:nvSpPr>
        <dsp:cNvPr id="0" name=""/>
        <dsp:cNvSpPr/>
      </dsp:nvSpPr>
      <dsp:spPr>
        <a:xfrm>
          <a:off x="0" y="141371"/>
          <a:ext cx="5122606" cy="14406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5D6E70-7D45-45F4-A0C1-600A1A38D1CF}">
      <dsp:nvSpPr>
        <dsp:cNvPr id="0" name=""/>
        <dsp:cNvSpPr/>
      </dsp:nvSpPr>
      <dsp:spPr>
        <a:xfrm>
          <a:off x="435784" y="575671"/>
          <a:ext cx="792334" cy="79233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A6CF3-A729-4CE1-ACC8-106A6E903BC2}">
      <dsp:nvSpPr>
        <dsp:cNvPr id="0" name=""/>
        <dsp:cNvSpPr/>
      </dsp:nvSpPr>
      <dsp:spPr>
        <a:xfrm>
          <a:off x="1663903" y="251534"/>
          <a:ext cx="3458702" cy="1440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64" tIns="152464" rIns="152464" bIns="15246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POST-TRANSLATIONAL MODIFICATIONS (PTMs)</a:t>
          </a:r>
          <a:r>
            <a:rPr lang="en-US" sz="1800" kern="1200" dirty="0"/>
            <a:t> are chemical changes added </a:t>
          </a:r>
          <a:r>
            <a:rPr lang="en-US" sz="1800" i="1" kern="1200" dirty="0"/>
            <a:t>after</a:t>
          </a:r>
          <a:r>
            <a:rPr lang="en-US" sz="1800" kern="1200" dirty="0"/>
            <a:t> the protein is made</a:t>
          </a:r>
        </a:p>
      </dsp:txBody>
      <dsp:txXfrm>
        <a:off x="1663903" y="251534"/>
        <a:ext cx="3458702" cy="1440608"/>
      </dsp:txXfrm>
    </dsp:sp>
    <dsp:sp modelId="{E208425D-C361-45C7-BA2C-EEA3A8A3FD71}">
      <dsp:nvSpPr>
        <dsp:cNvPr id="0" name=""/>
        <dsp:cNvSpPr/>
      </dsp:nvSpPr>
      <dsp:spPr>
        <a:xfrm>
          <a:off x="0" y="1966545"/>
          <a:ext cx="5122606" cy="14406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3A571A-74D3-4D41-B89A-C5D14AA60FA4}">
      <dsp:nvSpPr>
        <dsp:cNvPr id="0" name=""/>
        <dsp:cNvSpPr/>
      </dsp:nvSpPr>
      <dsp:spPr>
        <a:xfrm>
          <a:off x="435784" y="2290682"/>
          <a:ext cx="792334" cy="79233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72CECA-D9F2-4253-9803-4A53E4CB9FE2}">
      <dsp:nvSpPr>
        <dsp:cNvPr id="0" name=""/>
        <dsp:cNvSpPr/>
      </dsp:nvSpPr>
      <dsp:spPr>
        <a:xfrm>
          <a:off x="1663903" y="1966545"/>
          <a:ext cx="3458702" cy="1440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64" tIns="152464" rIns="152464" bIns="15246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PTMs control </a:t>
          </a:r>
          <a:r>
            <a:rPr lang="en-US" sz="1800" b="1" kern="1200"/>
            <a:t>protein function</a:t>
          </a:r>
          <a:r>
            <a:rPr lang="en-US" sz="1800" kern="1200"/>
            <a:t>, </a:t>
          </a:r>
          <a:r>
            <a:rPr lang="en-US" sz="1800" b="1" kern="1200"/>
            <a:t>signaling</a:t>
          </a:r>
          <a:r>
            <a:rPr lang="en-US" sz="1800" kern="1200"/>
            <a:t>, </a:t>
          </a:r>
          <a:r>
            <a:rPr lang="en-US" sz="1800" b="1" kern="1200"/>
            <a:t>stability</a:t>
          </a:r>
          <a:r>
            <a:rPr lang="en-US" sz="1800" kern="1200"/>
            <a:t>, and are critical in </a:t>
          </a:r>
          <a:r>
            <a:rPr lang="en-US" sz="1800" b="1" kern="1200"/>
            <a:t>disease mechanisms</a:t>
          </a:r>
          <a:endParaRPr lang="en-US" sz="1800" kern="1200"/>
        </a:p>
      </dsp:txBody>
      <dsp:txXfrm>
        <a:off x="1663903" y="1966545"/>
        <a:ext cx="3458702" cy="14406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43AD75-90D8-C84A-B6DB-62BACEE32978}">
      <dsp:nvSpPr>
        <dsp:cNvPr id="0" name=""/>
        <dsp:cNvSpPr/>
      </dsp:nvSpPr>
      <dsp:spPr>
        <a:xfrm>
          <a:off x="719729" y="261582"/>
          <a:ext cx="3152458" cy="1891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STATE SPACE MODELS </a:t>
          </a:r>
          <a:r>
            <a:rPr lang="en-US" sz="1900" kern="1200" dirty="0"/>
            <a:t>(SSMs)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1" kern="1200" dirty="0"/>
            <a:t>efficient for long sequences, captures long-range context, linear-time scanning</a:t>
          </a:r>
          <a:endParaRPr lang="en-US" sz="1900" kern="1200" dirty="0"/>
        </a:p>
      </dsp:txBody>
      <dsp:txXfrm>
        <a:off x="719729" y="261582"/>
        <a:ext cx="3152458" cy="1891475"/>
      </dsp:txXfrm>
    </dsp:sp>
    <dsp:sp modelId="{B24504F0-54CA-7248-8D5D-6FFACCAC01A5}">
      <dsp:nvSpPr>
        <dsp:cNvPr id="0" name=""/>
        <dsp:cNvSpPr/>
      </dsp:nvSpPr>
      <dsp:spPr>
        <a:xfrm>
          <a:off x="719729" y="2207280"/>
          <a:ext cx="3152458" cy="18914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1900" b="1" kern="1200" dirty="0"/>
            <a:t>RNN-STYLE GATING</a:t>
          </a:r>
          <a:r>
            <a:rPr lang="en-US" sz="1900" kern="1200" dirty="0"/>
            <a:t>   </a:t>
          </a:r>
          <a:r>
            <a:rPr lang="en-US" sz="1900" i="1" kern="1200" dirty="0"/>
            <a:t>selective memory, filters noise, strong sequential inductive bias</a:t>
          </a:r>
          <a:endParaRPr lang="en-US" sz="1900" kern="1200" dirty="0"/>
        </a:p>
      </dsp:txBody>
      <dsp:txXfrm>
        <a:off x="719729" y="2207280"/>
        <a:ext cx="3152458" cy="1891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4:33:36.2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4:33:44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24575,'0'6'0,"0"2"0,0 4 0,0 4 0,0 1 0,0 0 0,0-2 0,0-4 0,0-2 0,0-2 0,0 2 0,0 1 0,0-1 0,0 0 0,0-1 0,0 1 0,0-2 0,0 1 0,0-1 0,0 0 0,0 3 0,0-2 0,0 2 0,0-1 0,0-1 0,0-3 0,0-2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77880-F211-5340-A5FF-DB4FB26E5F5F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2E2B0-D514-2B4E-A45B-C5BCDA049E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76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2E2B0-D514-2B4E-A45B-C5BCDA049E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866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/>
              <a:t>Proteins are like programs in biology — they do work in the cell.”</a:t>
            </a:r>
          </a:p>
          <a:p>
            <a:r>
              <a:rPr lang="en-US" sz="1400" dirty="0"/>
              <a:t>“PTMs are small chemical changes on specific residues, like adding a tag that changes how the protein behaves.”</a:t>
            </a:r>
          </a:p>
          <a:p>
            <a:r>
              <a:rPr lang="en-US" sz="1400" dirty="0"/>
              <a:t>“Finding PTM sites in the lab is expensive and slow, so prediction helps narrow down which residues are worth testing.”</a:t>
            </a:r>
          </a:p>
          <a:p>
            <a:r>
              <a:rPr lang="en-US" sz="1400" dirty="0"/>
              <a:t>“So the core motivation: </a:t>
            </a:r>
            <a:r>
              <a:rPr lang="en-US" sz="1400" b="1" dirty="0"/>
              <a:t>use computation to quickly predict likely PTM locations from protein sequences.</a:t>
            </a:r>
            <a:r>
              <a:rPr lang="en-US" sz="1400" dirty="0"/>
              <a:t>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2E2B0-D514-2B4E-A45B-C5BCDA049E9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59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“Most residues in a protein are not modified.”</a:t>
            </a:r>
          </a:p>
          <a:p>
            <a:r>
              <a:rPr lang="en-US" dirty="0"/>
              <a:t>“So the dataset is highly imbalanced — a model can get high accuracy by always predicting ‘no PTM’.”</a:t>
            </a:r>
          </a:p>
          <a:p>
            <a:r>
              <a:rPr lang="en-US" dirty="0"/>
              <a:t>“We need metrics and training methods that actually reward catching rare PTM sites.”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PTM depends on surrounding context</a:t>
            </a:r>
            <a:endParaRPr lang="en-US" dirty="0"/>
          </a:p>
          <a:p>
            <a:endParaRPr lang="en-US" dirty="0"/>
          </a:p>
          <a:p>
            <a:r>
              <a:rPr lang="en-US" dirty="0"/>
              <a:t>“A PTM doesn’t depend only on the residue itself.”</a:t>
            </a:r>
          </a:p>
          <a:p>
            <a:r>
              <a:rPr lang="en-US" dirty="0"/>
              <a:t>“The neighboring and sometimes long-range sequence context affects whether a site gets modified.”</a:t>
            </a:r>
          </a:p>
          <a:p>
            <a:r>
              <a:rPr lang="en-US" dirty="0"/>
              <a:t>“So we need a model that can understand patterns across the whole sequence, not just local windows.”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Most models are PTM-specific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“Many tools are built only for one PTM type and don’t generalize well.”</a:t>
            </a:r>
          </a:p>
          <a:p>
            <a:r>
              <a:rPr lang="en-US" dirty="0"/>
              <a:t>“The goal is to move toward a more flexible approach that can transfer across PTMs and proteins.”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2E2B0-D514-2B4E-A45B-C5BCDA049E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20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“Our plan is to use </a:t>
            </a:r>
            <a:r>
              <a:rPr lang="en-US" dirty="0" err="1"/>
              <a:t>ProtMAMBA</a:t>
            </a:r>
            <a:r>
              <a:rPr lang="en-US" dirty="0"/>
              <a:t>, which is based on the MAMBA architecture.”</a:t>
            </a:r>
          </a:p>
          <a:p>
            <a:r>
              <a:rPr lang="en-US" dirty="0"/>
              <a:t>“MAMBA combines two useful ideas: </a:t>
            </a:r>
            <a:r>
              <a:rPr lang="en-US" b="1" dirty="0"/>
              <a:t>State Space Models (SSMs)</a:t>
            </a:r>
            <a:r>
              <a:rPr lang="en-US" dirty="0"/>
              <a:t> and </a:t>
            </a:r>
            <a:r>
              <a:rPr lang="en-US" b="1" dirty="0"/>
              <a:t>RNN-style gating</a:t>
            </a:r>
            <a:r>
              <a:rPr lang="en-US" dirty="0"/>
              <a:t>.”</a:t>
            </a:r>
          </a:p>
          <a:p>
            <a:br>
              <a:rPr lang="en-US" dirty="0"/>
            </a:br>
            <a:r>
              <a:rPr lang="en-US" dirty="0"/>
              <a:t>“SSMs are efficient for long sequences — they can process information across thousands of tokens without the heavy cost of attention.”</a:t>
            </a:r>
          </a:p>
          <a:p>
            <a:r>
              <a:rPr lang="en-US" dirty="0"/>
              <a:t>“That’s important because proteins can be long, and PTMs may depend on far-away context.”</a:t>
            </a:r>
          </a:p>
          <a:p>
            <a:endParaRPr lang="en-US" dirty="0"/>
          </a:p>
          <a:p>
            <a:r>
              <a:rPr lang="en-US" dirty="0"/>
              <a:t>“The gating behaves like selective memory — it helps keep useful signals and ignore noise.”</a:t>
            </a:r>
          </a:p>
          <a:p>
            <a:r>
              <a:rPr lang="en-US" dirty="0"/>
              <a:t>“That’s useful when only a few residues matter for the PTM decision.”</a:t>
            </a:r>
          </a:p>
          <a:p>
            <a:endParaRPr lang="en-US" dirty="0"/>
          </a:p>
          <a:p>
            <a:r>
              <a:rPr lang="en-US" dirty="0"/>
              <a:t>“Input is just the amino acid sequence.”</a:t>
            </a:r>
          </a:p>
          <a:p>
            <a:r>
              <a:rPr lang="en-US" dirty="0"/>
              <a:t>“</a:t>
            </a:r>
            <a:r>
              <a:rPr lang="en-US" dirty="0" err="1"/>
              <a:t>ProtMAMBA</a:t>
            </a:r>
            <a:r>
              <a:rPr lang="en-US" dirty="0"/>
              <a:t> converts it into contextual representations.”</a:t>
            </a:r>
          </a:p>
          <a:p>
            <a:r>
              <a:rPr lang="en-US" dirty="0"/>
              <a:t>“Then we add a small classifier head that predicts PTM probability per residue.”</a:t>
            </a:r>
          </a:p>
          <a:p>
            <a:r>
              <a:rPr lang="en-US" dirty="0"/>
              <a:t>“Output is a heatmap or highlighted sequence showing likely PTM locations.”</a:t>
            </a:r>
          </a:p>
          <a:p>
            <a:endParaRPr lang="en-US" dirty="0"/>
          </a:p>
          <a:p>
            <a:r>
              <a:rPr lang="en-US" dirty="0"/>
              <a:t>“So the model is essentially doing token classification — like labeling each residue as PTM or not.”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2E2B0-D514-2B4E-A45B-C5BCDA049E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584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“We’ll evaluate using a clean train/validation/test split, making sure proteins don’t leak between splits.”</a:t>
            </a:r>
          </a:p>
          <a:p>
            <a:br>
              <a:rPr lang="en-US" dirty="0"/>
            </a:br>
            <a:r>
              <a:rPr lang="en-US" dirty="0"/>
              <a:t>“Accuracy is not enough because ‘no PTM SITES’ dominates.”</a:t>
            </a:r>
          </a:p>
          <a:p>
            <a:r>
              <a:rPr lang="en-US" b="1" dirty="0"/>
              <a:t>F1</a:t>
            </a:r>
            <a:r>
              <a:rPr lang="en-US" dirty="0"/>
              <a:t> → balance of both</a:t>
            </a:r>
          </a:p>
          <a:p>
            <a:r>
              <a:rPr lang="en-US" b="1" dirty="0"/>
              <a:t>AUPRC</a:t>
            </a:r>
            <a:r>
              <a:rPr lang="en-US" dirty="0"/>
              <a:t> → especially important because PTMs are rare”</a:t>
            </a:r>
          </a:p>
          <a:p>
            <a:endParaRPr lang="en-US" dirty="0"/>
          </a:p>
          <a:p>
            <a:r>
              <a:rPr lang="en-US" dirty="0"/>
              <a:t>“False positives waste lab effort.”</a:t>
            </a:r>
          </a:p>
          <a:p>
            <a:r>
              <a:rPr lang="en-US" dirty="0"/>
              <a:t>“False negatives miss important biology.”</a:t>
            </a:r>
          </a:p>
          <a:p>
            <a:r>
              <a:rPr lang="en-US" dirty="0"/>
              <a:t>“So we want a model that keeps both under control.”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To summarize: we’re predicting PTMs from sequence using </a:t>
            </a:r>
            <a:r>
              <a:rPr lang="en-US" dirty="0" err="1"/>
              <a:t>ProtMAMBA</a:t>
            </a:r>
            <a:r>
              <a:rPr lang="en-US" dirty="0"/>
              <a:t>, tackling imbalance and context challenges, and we’ll validate with strong metrics designed for rare labels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2E2B0-D514-2B4E-A45B-C5BCDA049E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347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1/21/26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flickr.com/photos/dennism2/33029725205" TargetMode="Externa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ustomXml" Target="../ink/ink1.xm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2.xml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6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4322390-8B58-46BE-88EB-D9FD30C08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close-up of a dna strand&#10;&#10;AI-generated content may be incorrect.">
            <a:extLst>
              <a:ext uri="{FF2B5EF4-FFF2-40B4-BE49-F238E27FC236}">
                <a16:creationId xmlns:a16="http://schemas.microsoft.com/office/drawing/2014/main" id="{41F7A9DC-70D7-D011-489D-E765AE3F1FB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5000" contrast="-42000"/>
                    </a14:imgEffect>
                  </a14:imgLayer>
                </a14:imgProps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EA136B-DE16-F33E-E113-591A93C77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PREDICTING PTM SITES USING Prot-MAMBA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C52B57-18D3-898A-AC66-6A83D99949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56965" y="5996571"/>
            <a:ext cx="2842887" cy="861419"/>
          </a:xfrm>
        </p:spPr>
        <p:txBody>
          <a:bodyPr>
            <a:normAutofit lnSpcReduction="10000"/>
          </a:bodyPr>
          <a:lstStyle/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Harsh Chauhan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487ED-05DF-F98B-CA98-C617EFDB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>
                <a:solidFill>
                  <a:srgbClr val="EBEBEB"/>
                </a:solidFill>
              </a:rPr>
              <a:t>BACKGROUND AND MOTIVATION</a:t>
            </a: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732005B-0FB5-5F5C-767D-58EFCD380B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6207107"/>
              </p:ext>
            </p:extLst>
          </p:nvPr>
        </p:nvGraphicFramePr>
        <p:xfrm>
          <a:off x="668202" y="2570044"/>
          <a:ext cx="5122606" cy="36586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F0C80E9-305F-5206-C46E-3231EF11C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543305"/>
              </p:ext>
            </p:extLst>
          </p:nvPr>
        </p:nvGraphicFramePr>
        <p:xfrm>
          <a:off x="6570857" y="4805024"/>
          <a:ext cx="4298164" cy="160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9082">
                  <a:extLst>
                    <a:ext uri="{9D8B030D-6E8A-4147-A177-3AD203B41FA5}">
                      <a16:colId xmlns:a16="http://schemas.microsoft.com/office/drawing/2014/main" val="501694076"/>
                    </a:ext>
                  </a:extLst>
                </a:gridCol>
                <a:gridCol w="2149082">
                  <a:extLst>
                    <a:ext uri="{9D8B030D-6E8A-4147-A177-3AD203B41FA5}">
                      <a16:colId xmlns:a16="http://schemas.microsoft.com/office/drawing/2014/main" val="739969678"/>
                    </a:ext>
                  </a:extLst>
                </a:gridCol>
              </a:tblGrid>
              <a:tr h="401530">
                <a:tc>
                  <a:txBody>
                    <a:bodyPr/>
                    <a:lstStyle/>
                    <a:p>
                      <a:r>
                        <a:rPr lang="en-US" dirty="0"/>
                        <a:t>PTM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Happens 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826188"/>
                  </a:ext>
                </a:extLst>
              </a:tr>
              <a:tr h="40153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Phosphorylation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S/ T/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347768"/>
                  </a:ext>
                </a:extLst>
              </a:tr>
              <a:tr h="40153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Acetylation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15617"/>
                  </a:ext>
                </a:extLst>
              </a:tr>
              <a:tr h="40153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Ubiquitination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028660"/>
                  </a:ext>
                </a:extLst>
              </a:tr>
            </a:tbl>
          </a:graphicData>
        </a:graphic>
      </p:graphicFrame>
      <p:sp>
        <p:nvSpPr>
          <p:cNvPr id="22" name="Rectangle 4">
            <a:extLst>
              <a:ext uri="{FF2B5EF4-FFF2-40B4-BE49-F238E27FC236}">
                <a16:creationId xmlns:a16="http://schemas.microsoft.com/office/drawing/2014/main" id="{D926C1ED-D10D-A4FC-3C1B-F29A68DDA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9009" y="2402308"/>
            <a:ext cx="452186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Language of Proteins: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Amino acids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are the fundamental building blocks of proteins.</a:t>
            </a:r>
            <a:endParaRPr lang="en-US" altLang="en-US" sz="20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20 standard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</a:rPr>
              <a:t>residues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: 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A, R, N, D, C, E, Q, G, H, I, L, K, M, F, P, S, T, W, Y, V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 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292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9543E-8B70-E359-17D6-7579285D9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0" i="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75AD7B-3134-2DAF-2A86-6612BFBA29CD}"/>
              </a:ext>
            </a:extLst>
          </p:cNvPr>
          <p:cNvSpPr txBox="1"/>
          <p:nvPr/>
        </p:nvSpPr>
        <p:spPr>
          <a:xfrm>
            <a:off x="997527" y="2846069"/>
            <a:ext cx="212568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 A T K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b="1" dirty="0"/>
              <a:t> T Y ...</a:t>
            </a:r>
          </a:p>
          <a:p>
            <a:r>
              <a:rPr lang="en-US" sz="1600" dirty="0"/>
              <a:t>Protein sequence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123AEE80-4BE9-46C0-C9DD-0296E1978D7A}"/>
              </a:ext>
            </a:extLst>
          </p:cNvPr>
          <p:cNvSpPr/>
          <p:nvPr/>
        </p:nvSpPr>
        <p:spPr>
          <a:xfrm flipV="1">
            <a:off x="2992582" y="2950480"/>
            <a:ext cx="783772" cy="406730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3045996-1742-FBC1-3C00-58C5D77D27AB}"/>
              </a:ext>
            </a:extLst>
          </p:cNvPr>
          <p:cNvSpPr/>
          <p:nvPr/>
        </p:nvSpPr>
        <p:spPr>
          <a:xfrm>
            <a:off x="4239491" y="2730320"/>
            <a:ext cx="2553195" cy="698680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51EC65-FB4F-2F66-EBEF-714A414A0D5A}"/>
              </a:ext>
            </a:extLst>
          </p:cNvPr>
          <p:cNvSpPr txBox="1">
            <a:spLocks/>
          </p:cNvSpPr>
          <p:nvPr/>
        </p:nvSpPr>
        <p:spPr>
          <a:xfrm>
            <a:off x="4558204" y="2756494"/>
            <a:ext cx="20377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PTM Predictor</a:t>
            </a:r>
          </a:p>
          <a:p>
            <a:r>
              <a:rPr lang="en-US" b="1" dirty="0">
                <a:solidFill>
                  <a:schemeClr val="bg1"/>
                </a:solidFill>
              </a:rPr>
              <a:t>Using ML models</a:t>
            </a:r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BF98DCE0-1807-2FD9-1F3E-2CD5390D7A68}"/>
              </a:ext>
            </a:extLst>
          </p:cNvPr>
          <p:cNvSpPr/>
          <p:nvPr/>
        </p:nvSpPr>
        <p:spPr>
          <a:xfrm flipV="1">
            <a:off x="7255823" y="2950480"/>
            <a:ext cx="783772" cy="406730"/>
          </a:xfrm>
          <a:prstGeom prst="rightArrow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DFC34F-4507-7858-EBFD-02B06ABB7A4C}"/>
              </a:ext>
            </a:extLst>
          </p:cNvPr>
          <p:cNvSpPr txBox="1"/>
          <p:nvPr/>
        </p:nvSpPr>
        <p:spPr>
          <a:xfrm>
            <a:off x="8304068" y="2846069"/>
            <a:ext cx="3007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 A T K </a:t>
            </a:r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b="1" dirty="0"/>
              <a:t> T Y ...</a:t>
            </a:r>
          </a:p>
          <a:p>
            <a:r>
              <a:rPr lang="en-US" dirty="0"/>
              <a:t>	       </a:t>
            </a:r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en-US" dirty="0"/>
              <a:t> (PTM attached)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A8AF906F-4CFC-3A18-CA57-B9259A437C9C}"/>
                  </a:ext>
                </a:extLst>
              </p14:cNvPr>
              <p14:cNvContentPartPr/>
              <p14:nvPr/>
            </p14:nvContentPartPr>
            <p14:xfrm>
              <a:off x="9279019" y="3422064"/>
              <a:ext cx="360" cy="3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A8AF906F-4CFC-3A18-CA57-B9259A437C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72899" y="341594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0CE72F7-1A71-C9E1-329B-5A05EB2DCFAE}"/>
                  </a:ext>
                </a:extLst>
              </p14:cNvPr>
              <p14:cNvContentPartPr/>
              <p14:nvPr/>
            </p14:nvContentPartPr>
            <p14:xfrm>
              <a:off x="9279019" y="3123514"/>
              <a:ext cx="360" cy="914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0CE72F7-1A71-C9E1-329B-5A05EB2DCFA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72899" y="3117394"/>
                <a:ext cx="12600" cy="103680"/>
              </a:xfrm>
              <a:prstGeom prst="rect">
                <a:avLst/>
              </a:prstGeom>
            </p:spPr>
          </p:pic>
        </mc:Fallback>
      </mc:AlternateContent>
      <p:pic>
        <p:nvPicPr>
          <p:cNvPr id="45" name="Picture 44" descr="A screen shot of a magnifying glass&#10;&#10;AI-generated content may be incorrect.">
            <a:extLst>
              <a:ext uri="{FF2B5EF4-FFF2-40B4-BE49-F238E27FC236}">
                <a16:creationId xmlns:a16="http://schemas.microsoft.com/office/drawing/2014/main" id="{01E58EBF-000C-572B-B5A2-2E56265C7C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2635" y="3902265"/>
            <a:ext cx="2266323" cy="2763512"/>
          </a:xfrm>
          <a:prstGeom prst="rect">
            <a:avLst/>
          </a:prstGeom>
        </p:spPr>
      </p:pic>
      <p:pic>
        <p:nvPicPr>
          <p:cNvPr id="47" name="Picture 46" descr="A diagram of different types of tools&#10;&#10;AI-generated content may be incorrect.">
            <a:extLst>
              <a:ext uri="{FF2B5EF4-FFF2-40B4-BE49-F238E27FC236}">
                <a16:creationId xmlns:a16="http://schemas.microsoft.com/office/drawing/2014/main" id="{014E10F5-0D1B-E705-DC03-E8D5B0AD4C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3185" y="3615315"/>
            <a:ext cx="2146300" cy="2979569"/>
          </a:xfrm>
          <a:prstGeom prst="rect">
            <a:avLst/>
          </a:prstGeom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8DFFDD4F-F972-5112-7078-B5365CE0728E}"/>
              </a:ext>
            </a:extLst>
          </p:cNvPr>
          <p:cNvCxnSpPr>
            <a:cxnSpLocks/>
          </p:cNvCxnSpPr>
          <p:nvPr/>
        </p:nvCxnSpPr>
        <p:spPr>
          <a:xfrm flipH="1">
            <a:off x="3164956" y="3429000"/>
            <a:ext cx="1074535" cy="739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AE47C21-F36D-AE65-F3A6-1BFC70CFE87C}"/>
              </a:ext>
            </a:extLst>
          </p:cNvPr>
          <p:cNvCxnSpPr/>
          <p:nvPr/>
        </p:nvCxnSpPr>
        <p:spPr>
          <a:xfrm>
            <a:off x="5516088" y="3615315"/>
            <a:ext cx="0" cy="398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B9AA3B0-66F4-7D51-E7E5-9F686F4FA846}"/>
              </a:ext>
            </a:extLst>
          </p:cNvPr>
          <p:cNvCxnSpPr/>
          <p:nvPr/>
        </p:nvCxnSpPr>
        <p:spPr>
          <a:xfrm>
            <a:off x="6792686" y="3429000"/>
            <a:ext cx="1425039" cy="739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0" descr="A scale with red and green x marks on it&#10;&#10;AI-generated content may be incorrect.">
            <a:extLst>
              <a:ext uri="{FF2B5EF4-FFF2-40B4-BE49-F238E27FC236}">
                <a16:creationId xmlns:a16="http://schemas.microsoft.com/office/drawing/2014/main" id="{3B55D661-12DC-F19A-8E31-338BD07787E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4068" y="4013860"/>
            <a:ext cx="2266323" cy="257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28ABEA-2064-0AE8-C29D-4097F1215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4527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APPROACH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4725A2-3BC9-6F5A-2C30-53D37B0F5D00}"/>
              </a:ext>
            </a:extLst>
          </p:cNvPr>
          <p:cNvSpPr txBox="1"/>
          <p:nvPr/>
        </p:nvSpPr>
        <p:spPr>
          <a:xfrm>
            <a:off x="6052457" y="22642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48" name="Picture 47" descr="A diagram of a black and white scheme&#10;&#10;AI-generated content may be incorrect.">
            <a:extLst>
              <a:ext uri="{FF2B5EF4-FFF2-40B4-BE49-F238E27FC236}">
                <a16:creationId xmlns:a16="http://schemas.microsoft.com/office/drawing/2014/main" id="{3DF49444-BB63-DAF3-D502-51CD2FD6C6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492" t="2907" b="3521"/>
          <a:stretch>
            <a:fillRect/>
          </a:stretch>
        </p:blipFill>
        <p:spPr>
          <a:xfrm>
            <a:off x="5577073" y="2286162"/>
            <a:ext cx="3915673" cy="4592208"/>
          </a:xfrm>
          <a:prstGeom prst="rect">
            <a:avLst/>
          </a:prstGeom>
        </p:spPr>
      </p:pic>
      <p:graphicFrame>
        <p:nvGraphicFramePr>
          <p:cNvPr id="51" name="Diagram 50">
            <a:extLst>
              <a:ext uri="{FF2B5EF4-FFF2-40B4-BE49-F238E27FC236}">
                <a16:creationId xmlns:a16="http://schemas.microsoft.com/office/drawing/2014/main" id="{A526B989-414C-C453-BA3D-CFB26C2771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3859559"/>
              </p:ext>
            </p:extLst>
          </p:nvPr>
        </p:nvGraphicFramePr>
        <p:xfrm>
          <a:off x="492578" y="2646959"/>
          <a:ext cx="4591917" cy="40993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52" name="TextBox 51">
            <a:extLst>
              <a:ext uri="{FF2B5EF4-FFF2-40B4-BE49-F238E27FC236}">
                <a16:creationId xmlns:a16="http://schemas.microsoft.com/office/drawing/2014/main" id="{4DD3D8F7-0992-DB8C-48AE-10D7BF201554}"/>
              </a:ext>
            </a:extLst>
          </p:cNvPr>
          <p:cNvSpPr txBox="1"/>
          <p:nvPr/>
        </p:nvSpPr>
        <p:spPr>
          <a:xfrm>
            <a:off x="1449067" y="2145037"/>
            <a:ext cx="2678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MAMBA</a:t>
            </a:r>
            <a:r>
              <a:rPr lang="en-US" dirty="0"/>
              <a:t> is made of:</a:t>
            </a:r>
          </a:p>
        </p:txBody>
      </p:sp>
    </p:spTree>
    <p:extLst>
      <p:ext uri="{BB962C8B-B14F-4D97-AF65-F5344CB8AC3E}">
        <p14:creationId xmlns:p14="http://schemas.microsoft.com/office/powerpoint/2010/main" val="4231344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97B6F-3BFB-422D-717C-10F2471D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E5543-2C1B-D50E-C002-A5AB3C9D2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4007950" cy="4195481"/>
          </a:xfrm>
        </p:spPr>
        <p:txBody>
          <a:bodyPr/>
          <a:lstStyle/>
          <a:p>
            <a:r>
              <a:rPr lang="en-US" dirty="0"/>
              <a:t>Train/ Val/ Test split</a:t>
            </a:r>
          </a:p>
          <a:p>
            <a:r>
              <a:rPr lang="en-US" dirty="0"/>
              <a:t>Compare to benchmarks</a:t>
            </a:r>
          </a:p>
          <a:p>
            <a:r>
              <a:rPr lang="en-US" dirty="0"/>
              <a:t>Report per-PTM results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A0F3C7-B0B8-97AB-248F-DC7AF72FB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1896813"/>
              </p:ext>
            </p:extLst>
          </p:nvPr>
        </p:nvGraphicFramePr>
        <p:xfrm>
          <a:off x="5546972" y="2052917"/>
          <a:ext cx="5294922" cy="3065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4974">
                  <a:extLst>
                    <a:ext uri="{9D8B030D-6E8A-4147-A177-3AD203B41FA5}">
                      <a16:colId xmlns:a16="http://schemas.microsoft.com/office/drawing/2014/main" val="372117428"/>
                    </a:ext>
                  </a:extLst>
                </a:gridCol>
                <a:gridCol w="1764974">
                  <a:extLst>
                    <a:ext uri="{9D8B030D-6E8A-4147-A177-3AD203B41FA5}">
                      <a16:colId xmlns:a16="http://schemas.microsoft.com/office/drawing/2014/main" val="1806600400"/>
                    </a:ext>
                  </a:extLst>
                </a:gridCol>
                <a:gridCol w="1764974">
                  <a:extLst>
                    <a:ext uri="{9D8B030D-6E8A-4147-A177-3AD203B41FA5}">
                      <a16:colId xmlns:a16="http://schemas.microsoft.com/office/drawing/2014/main" val="36446906"/>
                    </a:ext>
                  </a:extLst>
                </a:gridCol>
              </a:tblGrid>
              <a:tr h="51085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AU-PRC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55729"/>
                  </a:ext>
                </a:extLst>
              </a:tr>
              <a:tr h="510850">
                <a:tc>
                  <a:txBody>
                    <a:bodyPr/>
                    <a:lstStyle/>
                    <a:p>
                      <a:r>
                        <a:rPr lang="en-US" dirty="0" err="1"/>
                        <a:t>AstraPTM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0.67-0.71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0.7-0.74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716304"/>
                  </a:ext>
                </a:extLst>
              </a:tr>
              <a:tr h="510850">
                <a:tc>
                  <a:txBody>
                    <a:bodyPr/>
                    <a:lstStyle/>
                    <a:p>
                      <a:r>
                        <a:rPr lang="en-US" dirty="0" err="1"/>
                        <a:t>DeepMVP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0.75-0.79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0.78-0.82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361369"/>
                  </a:ext>
                </a:extLst>
              </a:tr>
              <a:tr h="510850">
                <a:tc>
                  <a:txBody>
                    <a:bodyPr/>
                    <a:lstStyle/>
                    <a:p>
                      <a:r>
                        <a:rPr lang="en-US" dirty="0"/>
                        <a:t>PLM-ESM2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0.65-0.72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0.68-0.76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7671698"/>
                  </a:ext>
                </a:extLst>
              </a:tr>
              <a:tr h="510850">
                <a:tc>
                  <a:txBody>
                    <a:bodyPr/>
                    <a:lstStyle/>
                    <a:p>
                      <a:r>
                        <a:rPr lang="en-US" dirty="0" err="1"/>
                        <a:t>SiteStack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0.64-0.69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0.66-0.73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72133"/>
                  </a:ext>
                </a:extLst>
              </a:tr>
              <a:tr h="510850">
                <a:tc>
                  <a:txBody>
                    <a:bodyPr/>
                    <a:lstStyle/>
                    <a:p>
                      <a:r>
                        <a:rPr lang="en-US" dirty="0" err="1"/>
                        <a:t>ProtMAMBA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4092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5023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3AEF-C7F7-5B05-9DAF-AA68D8E57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0819" y="2891118"/>
            <a:ext cx="9404723" cy="1400530"/>
          </a:xfrm>
        </p:spPr>
        <p:txBody>
          <a:bodyPr/>
          <a:lstStyle/>
          <a:p>
            <a:r>
              <a:rPr lang="en-US" dirty="0"/>
              <a:t>QUESTIONS ? </a:t>
            </a:r>
          </a:p>
        </p:txBody>
      </p:sp>
    </p:spTree>
    <p:extLst>
      <p:ext uri="{BB962C8B-B14F-4D97-AF65-F5344CB8AC3E}">
        <p14:creationId xmlns:p14="http://schemas.microsoft.com/office/powerpoint/2010/main" val="598444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3468</TotalTime>
  <Words>700</Words>
  <Application>Microsoft Macintosh PowerPoint</Application>
  <PresentationFormat>Widescreen</PresentationFormat>
  <Paragraphs>98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Century Gothic</vt:lpstr>
      <vt:lpstr>Wingdings 3</vt:lpstr>
      <vt:lpstr>Ion</vt:lpstr>
      <vt:lpstr>PREDICTING PTM SITES USING Prot-MAMBA</vt:lpstr>
      <vt:lpstr>BACKGROUND AND MOTIVATION</vt:lpstr>
      <vt:lpstr>PROBLEM STATEMENT</vt:lpstr>
      <vt:lpstr>APPROACH</vt:lpstr>
      <vt:lpstr>EVALUATION</vt:lpstr>
      <vt:lpstr>QUESTIONS 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Chauhan (RIT Student)</dc:creator>
  <cp:lastModifiedBy>Harsh Chauhan (RIT Student)</cp:lastModifiedBy>
  <cp:revision>3</cp:revision>
  <cp:lastPrinted>2026-01-19T17:27:21Z</cp:lastPrinted>
  <dcterms:created xsi:type="dcterms:W3CDTF">2026-01-18T05:33:08Z</dcterms:created>
  <dcterms:modified xsi:type="dcterms:W3CDTF">2026-01-23T06:53:53Z</dcterms:modified>
</cp:coreProperties>
</file>