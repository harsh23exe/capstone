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Sorts Mill Goudy" panose="02000503000000000000"/>
      <p:regular r:id="rId9"/>
      <p: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53"/>
    <p:restoredTop sz="71644"/>
  </p:normalViewPr>
  <p:slideViewPr>
    <p:cSldViewPr snapToGrid="0">
      <p:cViewPr varScale="1">
        <p:scale>
          <a:sx n="89" d="100"/>
          <a:sy n="89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dirty="0"/>
              <a:t>Proteins are composed of sequences of amino acids, which determine the structure and function of the protein. After a protein is synthesized, it often undergoes </a:t>
            </a:r>
            <a:r>
              <a:rPr lang="en-US" sz="1200" b="1" dirty="0"/>
              <a:t>post-translational modifications</a:t>
            </a:r>
            <a:r>
              <a:rPr lang="en-US" sz="1200" dirty="0"/>
              <a:t>, or PTMs. These are chemical changes to specific amino acid residues that can regulate protein activity, localization, or interactions.</a:t>
            </a:r>
          </a:p>
          <a:p>
            <a:endParaRPr lang="en-US" sz="1200" dirty="0"/>
          </a:p>
          <a:p>
            <a:r>
              <a:rPr lang="en-US" sz="1200" dirty="0"/>
              <a:t>Experimentally identifying PTM sites is expensive and time-consuming, so computational models are often used to </a:t>
            </a:r>
            <a:r>
              <a:rPr lang="en-US" sz="1200" b="1" dirty="0"/>
              <a:t>predict which residues are likely to be modified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In Milestone 1, the goal was to establish a working baseline pipeline for this prediction task.</a:t>
            </a:r>
          </a:p>
          <a:p>
            <a:endParaRPr lang="en-US" sz="1200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200" dirty="0"/>
              <a:t>The main outcome of Milestone 1 was verifying that the </a:t>
            </a:r>
            <a:r>
              <a:rPr lang="en-US" sz="1200" b="1" dirty="0"/>
              <a:t>data preprocessing, training pipeline, and evaluation framework were working correctly</a:t>
            </a:r>
            <a:r>
              <a:rPr lang="en-US" sz="1200" dirty="0"/>
              <a:t>, and establishing baseline performance before moving to more advanced representations.</a:t>
            </a:r>
          </a:p>
          <a:p>
            <a:endParaRPr lang="en-US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dirty="0" err="1"/>
              <a:t>ProtMamba</a:t>
            </a:r>
            <a:r>
              <a:rPr lang="en-US" sz="1200" dirty="0"/>
              <a:t> is based on </a:t>
            </a:r>
            <a:r>
              <a:rPr lang="en-US" sz="1200" b="1" dirty="0"/>
              <a:t>state space models</a:t>
            </a:r>
            <a:r>
              <a:rPr lang="en-US" sz="1200" dirty="0"/>
              <a:t>, or SSMs, which provide an alternative to transformer architectures.</a:t>
            </a:r>
          </a:p>
          <a:p>
            <a:endParaRPr lang="en-US" sz="1200" dirty="0"/>
          </a:p>
          <a:p>
            <a:r>
              <a:rPr lang="en-US" sz="1200" dirty="0"/>
              <a:t>Most modern large language models rely on </a:t>
            </a:r>
            <a:r>
              <a:rPr lang="en-US" sz="1200" b="1" dirty="0"/>
              <a:t>self-attention mechanisms</a:t>
            </a:r>
            <a:r>
              <a:rPr lang="en-US" sz="1200" dirty="0"/>
              <a:t>. While powerful, attention mechanisms have </a:t>
            </a:r>
            <a:r>
              <a:rPr lang="en-US" sz="1200" b="1" dirty="0"/>
              <a:t>quadratic computational complexity with respect to sequence length</a:t>
            </a:r>
            <a:r>
              <a:rPr lang="en-US" sz="1200" dirty="0"/>
              <a:t>, which becomes expensive for long sequences like proteins.</a:t>
            </a:r>
          </a:p>
          <a:p>
            <a:endParaRPr lang="en-US" sz="1200" dirty="0"/>
          </a:p>
          <a:p>
            <a:r>
              <a:rPr lang="en-US" sz="1200" dirty="0"/>
              <a:t>State space models, on the other hand allows them to process sequences with </a:t>
            </a:r>
            <a:r>
              <a:rPr lang="en-US" sz="1200" b="1" dirty="0"/>
              <a:t>linear complexity</a:t>
            </a:r>
            <a:r>
              <a:rPr lang="en-US" sz="1200" dirty="0"/>
              <a:t> while still capturing long-range dependencies.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Because of this, Mamba architectures can scale efficiently to long biological sequences.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The original plan was to </a:t>
            </a:r>
            <a:r>
              <a:rPr lang="en-US" sz="1200" b="1" dirty="0"/>
              <a:t>fine-tune the </a:t>
            </a:r>
            <a:r>
              <a:rPr lang="en-US" sz="1200" b="1" dirty="0" err="1"/>
              <a:t>ProtMamba</a:t>
            </a:r>
            <a:r>
              <a:rPr lang="en-US" sz="1200" b="1" dirty="0"/>
              <a:t> model directly for PTM prediction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However, during experimentation I discovered that training this architecture is extremely computationally expensive. A single full training run was estimated to take approximately </a:t>
            </a:r>
            <a:r>
              <a:rPr lang="en-US" sz="1200" b="1" dirty="0"/>
              <a:t>35 days</a:t>
            </a:r>
            <a:r>
              <a:rPr lang="en-US" sz="1200" dirty="0"/>
              <a:t>, and running hyperparameter searches would extend the timeline to several months.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Given these constraints and discussions with my advisor, we made a strategic pivot.</a:t>
            </a:r>
          </a:p>
          <a:p>
            <a:endParaRPr lang="en-US" sz="1200" dirty="0"/>
          </a:p>
          <a:p>
            <a:r>
              <a:rPr lang="en-US" sz="1200" dirty="0"/>
              <a:t>Instead of training the model end-to-end, we now use </a:t>
            </a:r>
            <a:r>
              <a:rPr lang="en-US" sz="1200" b="1" dirty="0" err="1"/>
              <a:t>ProtMamba</a:t>
            </a:r>
            <a:r>
              <a:rPr lang="en-US" sz="1200" b="1" dirty="0"/>
              <a:t> in inference mode as a frozen feature extractor</a:t>
            </a:r>
            <a:r>
              <a:rPr lang="en-US" sz="1200" dirty="0"/>
              <a:t>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In this setup, </a:t>
            </a:r>
            <a:r>
              <a:rPr lang="en-US" sz="1200" dirty="0" err="1"/>
              <a:t>ProtMamba</a:t>
            </a:r>
            <a:r>
              <a:rPr lang="en-US" sz="1200" dirty="0"/>
              <a:t> generates contextual representations for protein sequence windows, and these representations are used as input features for downstream models that are much faster to train.”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dirty="0"/>
              <a:t>In the new architecture, </a:t>
            </a:r>
            <a:r>
              <a:rPr lang="en-US" sz="1200" dirty="0" err="1"/>
              <a:t>ProtMamba</a:t>
            </a:r>
            <a:r>
              <a:rPr lang="en-US" sz="1200" dirty="0"/>
              <a:t> is used to generate contextual embeddings for sequence windows.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Each input is a </a:t>
            </a:r>
            <a:r>
              <a:rPr lang="en-US" sz="1200" b="1" dirty="0"/>
              <a:t>51-residue window</a:t>
            </a:r>
            <a:r>
              <a:rPr lang="en-US" sz="1200" dirty="0"/>
              <a:t> centered which is passed through the pretrained </a:t>
            </a:r>
            <a:r>
              <a:rPr lang="en-US" sz="1200" dirty="0" err="1"/>
              <a:t>ProtMamba</a:t>
            </a:r>
            <a:r>
              <a:rPr lang="en-US" sz="1200" dirty="0"/>
              <a:t> model during inference, it produces a </a:t>
            </a:r>
            <a:r>
              <a:rPr lang="en-US" sz="1200" b="1" dirty="0"/>
              <a:t>51 by 768 embedding matrix</a:t>
            </a:r>
            <a:r>
              <a:rPr lang="en-US" sz="1200" dirty="0"/>
              <a:t>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The number </a:t>
            </a:r>
            <a:r>
              <a:rPr lang="en-US" sz="1200" b="1" dirty="0"/>
              <a:t>51</a:t>
            </a:r>
            <a:r>
              <a:rPr lang="en-US" sz="1200" dirty="0"/>
              <a:t> corresponds to the number of residues in the sequence window, while </a:t>
            </a:r>
            <a:r>
              <a:rPr lang="en-US" sz="1200" b="1" dirty="0"/>
              <a:t>768</a:t>
            </a:r>
            <a:r>
              <a:rPr lang="en-US" sz="1200" dirty="0"/>
              <a:t> represents the dimensionality of the embedding vector produced for each residue.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The embedding matrix is then passed into a downstream neural architecture.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First, </a:t>
            </a:r>
            <a:r>
              <a:rPr lang="en-US" sz="1200" b="1" dirty="0"/>
              <a:t>convolutional layers</a:t>
            </a:r>
            <a:r>
              <a:rPr lang="en-US" sz="1200" dirty="0"/>
              <a:t> extract local sequence motifs from the embedding representation.</a:t>
            </a:r>
          </a:p>
          <a:p>
            <a:endParaRPr lang="en-US" sz="1200" dirty="0"/>
          </a:p>
          <a:p>
            <a:r>
              <a:rPr lang="en-US" sz="1200" dirty="0"/>
              <a:t>Next, </a:t>
            </a:r>
            <a:r>
              <a:rPr lang="en-US" sz="1200" b="1" dirty="0"/>
              <a:t>GRU layers</a:t>
            </a:r>
            <a:r>
              <a:rPr lang="en-US" sz="1200" dirty="0"/>
              <a:t> model sequential dependencies across the window.</a:t>
            </a:r>
          </a:p>
          <a:p>
            <a:endParaRPr lang="en-US" sz="1200" dirty="0"/>
          </a:p>
          <a:p>
            <a:r>
              <a:rPr lang="en-US" sz="1200" dirty="0"/>
              <a:t>Finally, a classification layer predicts whether the central residue is a PTM site.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Through hyperparameter search, the best performing configuration was </a:t>
            </a:r>
            <a:r>
              <a:rPr lang="en-US" sz="1200" b="1" dirty="0"/>
              <a:t>two convolutional layers followed by two GRU layers</a:t>
            </a:r>
            <a:r>
              <a:rPr lang="en-US" sz="1200" dirty="0"/>
              <a:t>, selected based on the highest validation MCC.”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dirty="0"/>
              <a:t>The baseline MLP model achieved an MCC of approximately </a:t>
            </a:r>
            <a:r>
              <a:rPr lang="en-US" sz="1200" b="1" dirty="0"/>
              <a:t>0.32</a:t>
            </a:r>
            <a:r>
              <a:rPr lang="en-US" sz="1200" dirty="0"/>
              <a:t>, which served as our reference point.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When we introduced </a:t>
            </a:r>
            <a:r>
              <a:rPr lang="en-US" sz="1200" dirty="0" err="1"/>
              <a:t>ProtMamba</a:t>
            </a:r>
            <a:r>
              <a:rPr lang="en-US" sz="1200" dirty="0"/>
              <a:t> embeddings combined with sequence models, we observed consistent improvements across multiple metrics.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Among the architectures tested, the </a:t>
            </a:r>
            <a:r>
              <a:rPr lang="en-US" sz="1200" b="1" dirty="0"/>
              <a:t>CNN + GRU model with two convolution layers and two GRU layers achieved the best performance</a:t>
            </a:r>
            <a:r>
              <a:rPr lang="en-US" sz="1200" dirty="0"/>
              <a:t>, reaching a validation MCC of approximately </a:t>
            </a:r>
            <a:r>
              <a:rPr lang="en-US" sz="1200" b="1" dirty="0"/>
              <a:t>0.52</a:t>
            </a:r>
            <a:r>
              <a:rPr lang="en-US" sz="1200" dirty="0"/>
              <a:t>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We also evaluated a CNN + </a:t>
            </a:r>
            <a:r>
              <a:rPr lang="en-US" sz="1200" dirty="0" err="1"/>
              <a:t>BiLSTM</a:t>
            </a:r>
            <a:r>
              <a:rPr lang="en-US" sz="1200" dirty="0"/>
              <a:t> variant, which performed slightly better than the baseline but did not outperform the CNN + GRU model.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PTIST_MASTER">
  <p:cSld name="PPTIST_MASTER">
    <p:bg>
      <p:bgPr>
        <a:solidFill>
          <a:srgbClr val="FFFFF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/>
          <p:nvPr/>
        </p:nvSpPr>
        <p:spPr>
          <a:xfrm>
            <a:off x="381000" y="381000"/>
            <a:ext cx="11430000" cy="76200"/>
          </a:xfrm>
          <a:custGeom>
            <a:avLst/>
            <a:gdLst/>
            <a:ahLst/>
            <a:cxnLst/>
            <a:rect l="l" t="t" r="r" b="b"/>
            <a:pathLst>
              <a:path w="11430000" h="76200" extrusionOk="0">
                <a:moveTo>
                  <a:pt x="0" y="0"/>
                </a:moveTo>
                <a:lnTo>
                  <a:pt x="11430000" y="0"/>
                </a:lnTo>
                <a:lnTo>
                  <a:pt x="11430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4"/>
          <p:cNvSpPr/>
          <p:nvPr/>
        </p:nvSpPr>
        <p:spPr>
          <a:xfrm>
            <a:off x="1685925" y="1885950"/>
            <a:ext cx="88201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PTM Prediction with ProtMamba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5638800" y="3543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 extrusionOk="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"/>
          <p:cNvSpPr/>
          <p:nvPr/>
        </p:nvSpPr>
        <p:spPr>
          <a:xfrm>
            <a:off x="1771650" y="3886200"/>
            <a:ext cx="8648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Milestone 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Harsh Chauhan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4" descr="preencoded.png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>
            <a:off x="9372600" y="4038600"/>
            <a:ext cx="2438400" cy="2438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876300" y="381000"/>
            <a:ext cx="51530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Recap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587871" y="956441"/>
            <a:ext cx="6927354" cy="5458647"/>
          </a:xfrm>
          <a:custGeom>
            <a:avLst/>
            <a:gdLst/>
            <a:ahLst/>
            <a:cxnLst/>
            <a:rect l="l" t="t" r="r" b="b"/>
            <a:pathLst>
              <a:path w="6858000" h="5143500" extrusionOk="0">
                <a:moveTo>
                  <a:pt x="76175" y="0"/>
                </a:moveTo>
                <a:lnTo>
                  <a:pt x="6781825" y="0"/>
                </a:lnTo>
                <a:cubicBezTo>
                  <a:pt x="6823895" y="0"/>
                  <a:pt x="6858000" y="34105"/>
                  <a:pt x="6858000" y="76175"/>
                </a:cubicBezTo>
                <a:lnTo>
                  <a:pt x="6858000" y="5067325"/>
                </a:lnTo>
                <a:cubicBezTo>
                  <a:pt x="6858000" y="5109395"/>
                  <a:pt x="6823895" y="5143500"/>
                  <a:pt x="6781825" y="5143500"/>
                </a:cubicBezTo>
                <a:lnTo>
                  <a:pt x="76175" y="5143500"/>
                </a:lnTo>
                <a:cubicBezTo>
                  <a:pt x="34105" y="5143500"/>
                  <a:pt x="0" y="5109395"/>
                  <a:pt x="0" y="5067325"/>
                </a:cubicBezTo>
                <a:lnTo>
                  <a:pt x="0" y="76175"/>
                </a:lnTo>
                <a:cubicBezTo>
                  <a:pt x="0" y="34133"/>
                  <a:pt x="34133" y="0"/>
                  <a:pt x="76175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7562850" y="1333500"/>
            <a:ext cx="4248150" cy="2095500"/>
          </a:xfrm>
          <a:custGeom>
            <a:avLst/>
            <a:gdLst/>
            <a:ahLst/>
            <a:cxnLst/>
            <a:rect l="l" t="t" r="r" b="b"/>
            <a:pathLst>
              <a:path w="4248150" h="2095500" extrusionOk="0">
                <a:moveTo>
                  <a:pt x="0" y="0"/>
                </a:moveTo>
                <a:lnTo>
                  <a:pt x="4171958" y="0"/>
                </a:lnTo>
                <a:cubicBezTo>
                  <a:pt x="4214038" y="0"/>
                  <a:pt x="4248150" y="34112"/>
                  <a:pt x="4248150" y="76192"/>
                </a:cubicBezTo>
                <a:lnTo>
                  <a:pt x="4248150" y="2019308"/>
                </a:lnTo>
                <a:cubicBezTo>
                  <a:pt x="4248150" y="2061388"/>
                  <a:pt x="4214038" y="2095500"/>
                  <a:pt x="4171958" y="2095500"/>
                </a:cubicBez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7562850" y="133350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 extrusionOk="0">
                <a:moveTo>
                  <a:pt x="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7796212" y="1562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8010525" y="1524000"/>
            <a:ext cx="37052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Milestone 1 Achievements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7772400" y="194310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7912596" y="1905000"/>
            <a:ext cx="378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Dataset Preparation:</a:t>
            </a:r>
            <a:r>
              <a:rPr lang="en-US" sz="120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PTM datasets with residue-level labels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7772400" y="247650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7912596" y="2438400"/>
            <a:ext cx="378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Data Splitting:</a:t>
            </a:r>
            <a:r>
              <a:rPr lang="en-US" sz="120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Protein-wise train/validation/test to prevent leakage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7772400" y="300990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7912596" y="2971800"/>
            <a:ext cx="3038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Baseline Model:</a:t>
            </a:r>
            <a:r>
              <a:rPr lang="en-US" sz="120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MLP classifier for validation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7562850" y="3581400"/>
            <a:ext cx="4248150" cy="1504950"/>
          </a:xfrm>
          <a:custGeom>
            <a:avLst/>
            <a:gdLst/>
            <a:ahLst/>
            <a:cxnLst/>
            <a:rect l="l" t="t" r="r" b="b"/>
            <a:pathLst>
              <a:path w="4248150" h="1504950" extrusionOk="0">
                <a:moveTo>
                  <a:pt x="0" y="0"/>
                </a:moveTo>
                <a:lnTo>
                  <a:pt x="4171954" y="0"/>
                </a:lnTo>
                <a:cubicBezTo>
                  <a:pt x="4214036" y="0"/>
                  <a:pt x="4248150" y="34114"/>
                  <a:pt x="4248150" y="76196"/>
                </a:cubicBezTo>
                <a:lnTo>
                  <a:pt x="4248150" y="1428754"/>
                </a:lnTo>
                <a:cubicBezTo>
                  <a:pt x="4248150" y="1470836"/>
                  <a:pt x="4214036" y="1504950"/>
                  <a:pt x="4171954" y="1504950"/>
                </a:cubicBez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562850" y="358140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 extrusionOk="0">
                <a:moveTo>
                  <a:pt x="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7820025" y="3810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extrusionOk="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8010525" y="3771900"/>
            <a:ext cx="37052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Key Insight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7772400" y="4152900"/>
            <a:ext cx="39243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Pipeline confirmed functional with baseline performance established. Focus shifted to improving feature representation using protein language models.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5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65" y="963930"/>
            <a:ext cx="7744507" cy="536329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2271692" y="2705100"/>
            <a:ext cx="3209965" cy="1345324"/>
          </a:xfrm>
          <a:prstGeom prst="roundRect">
            <a:avLst>
              <a:gd name="adj" fmla="val 16667"/>
            </a:avLst>
          </a:prstGeom>
          <a:solidFill>
            <a:srgbClr val="7D0805"/>
          </a:solidFill>
          <a:ln w="12700" cap="flat" cmpd="sng">
            <a:solidFill>
              <a:srgbClr val="3B47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MLP CLASSIFIER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312954" y="352625"/>
            <a:ext cx="431965" cy="3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11037" y="352625"/>
            <a:ext cx="7625510" cy="3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ProtMamba: Architecture and Training Constraints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352625" y="987349"/>
            <a:ext cx="5606733" cy="2424295"/>
          </a:xfrm>
          <a:custGeom>
            <a:avLst/>
            <a:gdLst/>
            <a:ahLst/>
            <a:cxnLst/>
            <a:rect l="l" t="t" r="r" b="b"/>
            <a:pathLst>
              <a:path w="5606733" h="2424295" extrusionOk="0">
                <a:moveTo>
                  <a:pt x="70523" y="0"/>
                </a:moveTo>
                <a:lnTo>
                  <a:pt x="5536210" y="0"/>
                </a:lnTo>
                <a:cubicBezTo>
                  <a:pt x="5575159" y="0"/>
                  <a:pt x="5606733" y="31574"/>
                  <a:pt x="5606733" y="70523"/>
                </a:cubicBezTo>
                <a:lnTo>
                  <a:pt x="5606733" y="2353772"/>
                </a:lnTo>
                <a:cubicBezTo>
                  <a:pt x="5606733" y="2392721"/>
                  <a:pt x="5575159" y="2424295"/>
                  <a:pt x="5536210" y="2424295"/>
                </a:cubicBezTo>
                <a:lnTo>
                  <a:pt x="70523" y="2424295"/>
                </a:lnTo>
                <a:cubicBezTo>
                  <a:pt x="31574" y="2424295"/>
                  <a:pt x="0" y="2392721"/>
                  <a:pt x="0" y="2353772"/>
                </a:cubicBezTo>
                <a:lnTo>
                  <a:pt x="0" y="70523"/>
                </a:lnTo>
                <a:cubicBezTo>
                  <a:pt x="0" y="31600"/>
                  <a:pt x="31600" y="0"/>
                  <a:pt x="70523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17093" y="1229779"/>
            <a:ext cx="158681" cy="211575"/>
          </a:xfrm>
          <a:custGeom>
            <a:avLst/>
            <a:gdLst/>
            <a:ahLst/>
            <a:cxnLst/>
            <a:rect l="l" t="t" r="r" b="b"/>
            <a:pathLst>
              <a:path w="158681" h="211575" extrusionOk="0">
                <a:moveTo>
                  <a:pt x="145458" y="0"/>
                </a:moveTo>
                <a:cubicBezTo>
                  <a:pt x="152772" y="0"/>
                  <a:pt x="158681" y="5909"/>
                  <a:pt x="158681" y="13223"/>
                </a:cubicBezTo>
                <a:cubicBezTo>
                  <a:pt x="158681" y="37108"/>
                  <a:pt x="148598" y="56530"/>
                  <a:pt x="134962" y="72935"/>
                </a:cubicBezTo>
                <a:cubicBezTo>
                  <a:pt x="125003" y="84878"/>
                  <a:pt x="112730" y="95705"/>
                  <a:pt x="100415" y="105787"/>
                </a:cubicBezTo>
                <a:cubicBezTo>
                  <a:pt x="112730" y="115912"/>
                  <a:pt x="125003" y="126697"/>
                  <a:pt x="134962" y="138639"/>
                </a:cubicBezTo>
                <a:cubicBezTo>
                  <a:pt x="148598" y="155003"/>
                  <a:pt x="158681" y="174467"/>
                  <a:pt x="158681" y="198351"/>
                </a:cubicBezTo>
                <a:cubicBezTo>
                  <a:pt x="158681" y="205666"/>
                  <a:pt x="152772" y="211575"/>
                  <a:pt x="145458" y="211575"/>
                </a:cubicBezTo>
                <a:cubicBezTo>
                  <a:pt x="138143" y="211575"/>
                  <a:pt x="132234" y="205666"/>
                  <a:pt x="132234" y="198351"/>
                </a:cubicBezTo>
                <a:lnTo>
                  <a:pt x="26447" y="198351"/>
                </a:lnTo>
                <a:cubicBezTo>
                  <a:pt x="26447" y="205666"/>
                  <a:pt x="20538" y="211575"/>
                  <a:pt x="13223" y="211575"/>
                </a:cubicBezTo>
                <a:cubicBezTo>
                  <a:pt x="5909" y="211575"/>
                  <a:pt x="0" y="205666"/>
                  <a:pt x="0" y="198351"/>
                </a:cubicBezTo>
                <a:cubicBezTo>
                  <a:pt x="0" y="174467"/>
                  <a:pt x="10083" y="155045"/>
                  <a:pt x="23720" y="138639"/>
                </a:cubicBezTo>
                <a:cubicBezTo>
                  <a:pt x="33678" y="126697"/>
                  <a:pt x="45951" y="115912"/>
                  <a:pt x="58266" y="105787"/>
                </a:cubicBezTo>
                <a:cubicBezTo>
                  <a:pt x="45951" y="95663"/>
                  <a:pt x="33678" y="84878"/>
                  <a:pt x="23720" y="72935"/>
                </a:cubicBezTo>
                <a:cubicBezTo>
                  <a:pt x="10083" y="56530"/>
                  <a:pt x="0" y="37108"/>
                  <a:pt x="0" y="13223"/>
                </a:cubicBezTo>
                <a:cubicBezTo>
                  <a:pt x="0" y="5909"/>
                  <a:pt x="5909" y="0"/>
                  <a:pt x="13223" y="0"/>
                </a:cubicBezTo>
                <a:cubicBezTo>
                  <a:pt x="20538" y="0"/>
                  <a:pt x="26447" y="5909"/>
                  <a:pt x="26447" y="13223"/>
                </a:cubicBezTo>
                <a:lnTo>
                  <a:pt x="132234" y="13223"/>
                </a:lnTo>
                <a:cubicBezTo>
                  <a:pt x="132234" y="5909"/>
                  <a:pt x="138143" y="0"/>
                  <a:pt x="145458" y="0"/>
                </a:cubicBezTo>
                <a:close/>
                <a:moveTo>
                  <a:pt x="117151" y="158681"/>
                </a:moveTo>
                <a:lnTo>
                  <a:pt x="41571" y="158681"/>
                </a:lnTo>
                <a:cubicBezTo>
                  <a:pt x="38183" y="163020"/>
                  <a:pt x="35331" y="167400"/>
                  <a:pt x="33059" y="171905"/>
                </a:cubicBezTo>
                <a:lnTo>
                  <a:pt x="125705" y="171905"/>
                </a:lnTo>
                <a:cubicBezTo>
                  <a:pt x="123391" y="167400"/>
                  <a:pt x="120540" y="163020"/>
                  <a:pt x="117193" y="158681"/>
                </a:cubicBezTo>
                <a:close/>
                <a:moveTo>
                  <a:pt x="98349" y="138846"/>
                </a:moveTo>
                <a:cubicBezTo>
                  <a:pt x="92440" y="133474"/>
                  <a:pt x="86035" y="128185"/>
                  <a:pt x="79341" y="122730"/>
                </a:cubicBezTo>
                <a:cubicBezTo>
                  <a:pt x="72646" y="128143"/>
                  <a:pt x="66241" y="133474"/>
                  <a:pt x="60332" y="138846"/>
                </a:cubicBezTo>
                <a:lnTo>
                  <a:pt x="98349" y="138846"/>
                </a:lnTo>
                <a:close/>
                <a:moveTo>
                  <a:pt x="41530" y="52894"/>
                </a:moveTo>
                <a:lnTo>
                  <a:pt x="117110" y="52894"/>
                </a:lnTo>
                <a:cubicBezTo>
                  <a:pt x="120498" y="48555"/>
                  <a:pt x="123350" y="44175"/>
                  <a:pt x="125623" y="39670"/>
                </a:cubicBezTo>
                <a:lnTo>
                  <a:pt x="33017" y="39670"/>
                </a:lnTo>
                <a:cubicBezTo>
                  <a:pt x="35331" y="44175"/>
                  <a:pt x="38183" y="48555"/>
                  <a:pt x="41530" y="52894"/>
                </a:cubicBezTo>
                <a:close/>
                <a:moveTo>
                  <a:pt x="60332" y="72729"/>
                </a:moveTo>
                <a:cubicBezTo>
                  <a:pt x="66241" y="78101"/>
                  <a:pt x="72646" y="83390"/>
                  <a:pt x="79341" y="88845"/>
                </a:cubicBezTo>
                <a:cubicBezTo>
                  <a:pt x="86035" y="83432"/>
                  <a:pt x="92440" y="78101"/>
                  <a:pt x="98349" y="72729"/>
                </a:cubicBezTo>
                <a:lnTo>
                  <a:pt x="60332" y="72729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828668" y="1198924"/>
            <a:ext cx="5024902" cy="273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6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What is ProtMamba?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64200" y="1613258"/>
            <a:ext cx="5262924" cy="51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ProtMamba</a:t>
            </a:r>
            <a:r>
              <a:rPr lang="en-US" sz="1249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is a </a:t>
            </a:r>
            <a:r>
              <a:rPr lang="en-US" sz="1249">
                <a:solidFill>
                  <a:srgbClr val="FFFFFF"/>
                </a:solidFill>
                <a:highlight>
                  <a:srgbClr val="8B0000"/>
                </a:highlight>
                <a:latin typeface="Sorts Mill Goudy"/>
                <a:ea typeface="Sorts Mill Goudy"/>
                <a:cs typeface="Sorts Mill Goudy"/>
                <a:sym typeface="Sorts Mill Goudy"/>
              </a:rPr>
              <a:t>protein language model </a:t>
            </a:r>
            <a:r>
              <a:rPr lang="en-US" sz="1249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designed to capture </a:t>
            </a:r>
            <a:r>
              <a:rPr lang="en-US" sz="1249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long-range dependencies</a:t>
            </a:r>
            <a:r>
              <a:rPr lang="en-US" sz="1249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in biological sequences using State Space Models (SSMs).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568607" y="2270022"/>
            <a:ext cx="2512451" cy="925640"/>
          </a:xfrm>
          <a:custGeom>
            <a:avLst/>
            <a:gdLst/>
            <a:ahLst/>
            <a:cxnLst/>
            <a:rect l="l" t="t" r="r" b="b"/>
            <a:pathLst>
              <a:path w="2512451" h="925640" extrusionOk="0">
                <a:moveTo>
                  <a:pt x="70525" y="0"/>
                </a:moveTo>
                <a:lnTo>
                  <a:pt x="2441927" y="0"/>
                </a:lnTo>
                <a:cubicBezTo>
                  <a:pt x="2480876" y="0"/>
                  <a:pt x="2512451" y="31575"/>
                  <a:pt x="2512451" y="70525"/>
                </a:cubicBezTo>
                <a:lnTo>
                  <a:pt x="2512451" y="855115"/>
                </a:lnTo>
                <a:cubicBezTo>
                  <a:pt x="2512451" y="894065"/>
                  <a:pt x="2480876" y="925640"/>
                  <a:pt x="2441927" y="925640"/>
                </a:cubicBezTo>
                <a:lnTo>
                  <a:pt x="70525" y="925640"/>
                </a:lnTo>
                <a:cubicBezTo>
                  <a:pt x="31575" y="925640"/>
                  <a:pt x="0" y="894065"/>
                  <a:pt x="0" y="85511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714065" y="2415479"/>
            <a:ext cx="2300876" cy="24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" b="1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Space Models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714065" y="2697579"/>
            <a:ext cx="2283245" cy="3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2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Efficient sequence modeling with linear complexity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228996" y="2270022"/>
            <a:ext cx="2512451" cy="925640"/>
          </a:xfrm>
          <a:custGeom>
            <a:avLst/>
            <a:gdLst/>
            <a:ahLst/>
            <a:cxnLst/>
            <a:rect l="l" t="t" r="r" b="b"/>
            <a:pathLst>
              <a:path w="2512451" h="925640" extrusionOk="0">
                <a:moveTo>
                  <a:pt x="70525" y="0"/>
                </a:moveTo>
                <a:lnTo>
                  <a:pt x="2441927" y="0"/>
                </a:lnTo>
                <a:cubicBezTo>
                  <a:pt x="2480876" y="0"/>
                  <a:pt x="2512451" y="31575"/>
                  <a:pt x="2512451" y="70525"/>
                </a:cubicBezTo>
                <a:lnTo>
                  <a:pt x="2512451" y="855115"/>
                </a:lnTo>
                <a:cubicBezTo>
                  <a:pt x="2512451" y="894065"/>
                  <a:pt x="2480876" y="925640"/>
                  <a:pt x="2441927" y="925640"/>
                </a:cubicBezTo>
                <a:lnTo>
                  <a:pt x="70525" y="925640"/>
                </a:lnTo>
                <a:cubicBezTo>
                  <a:pt x="31575" y="925640"/>
                  <a:pt x="0" y="894065"/>
                  <a:pt x="0" y="85511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3374453" y="2415479"/>
            <a:ext cx="2300876" cy="24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" b="1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Long-Range Context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3374453" y="2697579"/>
            <a:ext cx="2283245" cy="35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2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Captures dependencies across entire protein sequences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370256" y="3623219"/>
            <a:ext cx="5589102" cy="1163662"/>
          </a:xfrm>
          <a:custGeom>
            <a:avLst/>
            <a:gdLst/>
            <a:ahLst/>
            <a:cxnLst/>
            <a:rect l="l" t="t" r="r" b="b"/>
            <a:pathLst>
              <a:path w="5589102" h="1163662" extrusionOk="0">
                <a:moveTo>
                  <a:pt x="0" y="0"/>
                </a:moveTo>
                <a:lnTo>
                  <a:pt x="5518572" y="0"/>
                </a:lnTo>
                <a:cubicBezTo>
                  <a:pt x="5557525" y="0"/>
                  <a:pt x="5589102" y="31577"/>
                  <a:pt x="5589102" y="70530"/>
                </a:cubicBezTo>
                <a:lnTo>
                  <a:pt x="5589102" y="1093132"/>
                </a:lnTo>
                <a:cubicBezTo>
                  <a:pt x="5589102" y="1132084"/>
                  <a:pt x="5557525" y="1163662"/>
                  <a:pt x="5518572" y="1163662"/>
                </a:cubicBezTo>
                <a:lnTo>
                  <a:pt x="0" y="1163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6447" dist="8816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370256" y="3623219"/>
            <a:ext cx="35262" cy="1163662"/>
          </a:xfrm>
          <a:custGeom>
            <a:avLst/>
            <a:gdLst/>
            <a:ahLst/>
            <a:cxnLst/>
            <a:rect l="l" t="t" r="r" b="b"/>
            <a:pathLst>
              <a:path w="35262" h="1163662" extrusionOk="0">
                <a:moveTo>
                  <a:pt x="0" y="0"/>
                </a:moveTo>
                <a:lnTo>
                  <a:pt x="35262" y="0"/>
                </a:lnTo>
                <a:lnTo>
                  <a:pt x="35262" y="1163662"/>
                </a:lnTo>
                <a:lnTo>
                  <a:pt x="0" y="116366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86239" y="3834794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 extrusionOk="0">
                <a:moveTo>
                  <a:pt x="88156" y="0"/>
                </a:moveTo>
                <a:cubicBezTo>
                  <a:pt x="93218" y="0"/>
                  <a:pt x="97867" y="2789"/>
                  <a:pt x="100278" y="7232"/>
                </a:cubicBezTo>
                <a:lnTo>
                  <a:pt x="174659" y="144976"/>
                </a:lnTo>
                <a:cubicBezTo>
                  <a:pt x="176967" y="149246"/>
                  <a:pt x="176863" y="154411"/>
                  <a:pt x="174384" y="158578"/>
                </a:cubicBezTo>
                <a:cubicBezTo>
                  <a:pt x="171905" y="162745"/>
                  <a:pt x="167393" y="165293"/>
                  <a:pt x="162538" y="165293"/>
                </a:cubicBezTo>
                <a:lnTo>
                  <a:pt x="13774" y="165293"/>
                </a:lnTo>
                <a:cubicBezTo>
                  <a:pt x="8919" y="165293"/>
                  <a:pt x="4442" y="162745"/>
                  <a:pt x="1928" y="158578"/>
                </a:cubicBezTo>
                <a:cubicBezTo>
                  <a:pt x="-585" y="154411"/>
                  <a:pt x="-654" y="149246"/>
                  <a:pt x="1653" y="144976"/>
                </a:cubicBezTo>
                <a:lnTo>
                  <a:pt x="76035" y="7232"/>
                </a:lnTo>
                <a:cubicBezTo>
                  <a:pt x="78445" y="2789"/>
                  <a:pt x="83094" y="0"/>
                  <a:pt x="88156" y="0"/>
                </a:cubicBezTo>
                <a:close/>
                <a:moveTo>
                  <a:pt x="88156" y="57852"/>
                </a:moveTo>
                <a:cubicBezTo>
                  <a:pt x="83576" y="57852"/>
                  <a:pt x="79892" y="61537"/>
                  <a:pt x="79892" y="66117"/>
                </a:cubicBezTo>
                <a:lnTo>
                  <a:pt x="79892" y="104685"/>
                </a:lnTo>
                <a:cubicBezTo>
                  <a:pt x="79892" y="109265"/>
                  <a:pt x="83576" y="112950"/>
                  <a:pt x="88156" y="112950"/>
                </a:cubicBezTo>
                <a:cubicBezTo>
                  <a:pt x="92736" y="112950"/>
                  <a:pt x="96421" y="109265"/>
                  <a:pt x="96421" y="104685"/>
                </a:cubicBezTo>
                <a:lnTo>
                  <a:pt x="96421" y="66117"/>
                </a:lnTo>
                <a:cubicBezTo>
                  <a:pt x="96421" y="61537"/>
                  <a:pt x="92736" y="57852"/>
                  <a:pt x="88156" y="57852"/>
                </a:cubicBezTo>
                <a:close/>
                <a:moveTo>
                  <a:pt x="97351" y="132234"/>
                </a:moveTo>
                <a:cubicBezTo>
                  <a:pt x="97560" y="128821"/>
                  <a:pt x="95858" y="125574"/>
                  <a:pt x="92932" y="123805"/>
                </a:cubicBezTo>
                <a:cubicBezTo>
                  <a:pt x="90006" y="122035"/>
                  <a:pt x="86340" y="122035"/>
                  <a:pt x="83415" y="123805"/>
                </a:cubicBezTo>
                <a:cubicBezTo>
                  <a:pt x="80489" y="125574"/>
                  <a:pt x="78787" y="128821"/>
                  <a:pt x="78996" y="132234"/>
                </a:cubicBezTo>
                <a:cubicBezTo>
                  <a:pt x="78787" y="135647"/>
                  <a:pt x="80489" y="138894"/>
                  <a:pt x="83415" y="140664"/>
                </a:cubicBezTo>
                <a:cubicBezTo>
                  <a:pt x="86340" y="142434"/>
                  <a:pt x="90006" y="142434"/>
                  <a:pt x="92932" y="140664"/>
                </a:cubicBezTo>
                <a:cubicBezTo>
                  <a:pt x="95858" y="138894"/>
                  <a:pt x="97560" y="135647"/>
                  <a:pt x="97351" y="132234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784590" y="3799531"/>
            <a:ext cx="5086612" cy="24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8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Training Challenge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64200" y="4152156"/>
            <a:ext cx="5289371" cy="45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Initial plan was to </a:t>
            </a:r>
            <a:r>
              <a:rPr lang="en-US" sz="1111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fine-tune ProtMamba end-to-end</a:t>
            </a:r>
            <a:r>
              <a:rPr lang="en-US" sz="111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for PTM prediction. However, experiments revealed prohibitive computational requirements.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6237601" y="987349"/>
            <a:ext cx="5606733" cy="2776920"/>
          </a:xfrm>
          <a:custGeom>
            <a:avLst/>
            <a:gdLst/>
            <a:ahLst/>
            <a:cxnLst/>
            <a:rect l="l" t="t" r="r" b="b"/>
            <a:pathLst>
              <a:path w="5606733" h="2776920" extrusionOk="0">
                <a:moveTo>
                  <a:pt x="70534" y="0"/>
                </a:moveTo>
                <a:lnTo>
                  <a:pt x="5536199" y="0"/>
                </a:lnTo>
                <a:cubicBezTo>
                  <a:pt x="5575154" y="0"/>
                  <a:pt x="5606733" y="31579"/>
                  <a:pt x="5606733" y="70534"/>
                </a:cubicBezTo>
                <a:lnTo>
                  <a:pt x="5606733" y="2706386"/>
                </a:lnTo>
                <a:cubicBezTo>
                  <a:pt x="5606733" y="2745341"/>
                  <a:pt x="5575154" y="2776920"/>
                  <a:pt x="5536199" y="2776920"/>
                </a:cubicBezTo>
                <a:lnTo>
                  <a:pt x="70534" y="2776920"/>
                </a:lnTo>
                <a:cubicBezTo>
                  <a:pt x="31579" y="2776920"/>
                  <a:pt x="0" y="2745341"/>
                  <a:pt x="0" y="2706386"/>
                </a:cubicBezTo>
                <a:lnTo>
                  <a:pt x="0" y="70534"/>
                </a:lnTo>
                <a:cubicBezTo>
                  <a:pt x="0" y="31605"/>
                  <a:pt x="31605" y="0"/>
                  <a:pt x="70534" y="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6475623" y="1229779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 extrusionOk="0">
                <a:moveTo>
                  <a:pt x="105787" y="0"/>
                </a:moveTo>
                <a:cubicBezTo>
                  <a:pt x="164173" y="0"/>
                  <a:pt x="211575" y="47402"/>
                  <a:pt x="211575" y="105787"/>
                </a:cubicBezTo>
                <a:cubicBezTo>
                  <a:pt x="211575" y="164173"/>
                  <a:pt x="164173" y="211575"/>
                  <a:pt x="105787" y="211575"/>
                </a:cubicBezTo>
                <a:cubicBezTo>
                  <a:pt x="47402" y="211575"/>
                  <a:pt x="0" y="164173"/>
                  <a:pt x="0" y="105787"/>
                </a:cubicBezTo>
                <a:cubicBezTo>
                  <a:pt x="0" y="47402"/>
                  <a:pt x="47402" y="0"/>
                  <a:pt x="105787" y="0"/>
                </a:cubicBezTo>
                <a:close/>
                <a:moveTo>
                  <a:pt x="95870" y="49588"/>
                </a:moveTo>
                <a:lnTo>
                  <a:pt x="95870" y="105787"/>
                </a:lnTo>
                <a:cubicBezTo>
                  <a:pt x="95870" y="109093"/>
                  <a:pt x="97523" y="112193"/>
                  <a:pt x="100291" y="114052"/>
                </a:cubicBezTo>
                <a:lnTo>
                  <a:pt x="139962" y="140499"/>
                </a:lnTo>
                <a:cubicBezTo>
                  <a:pt x="144507" y="143557"/>
                  <a:pt x="150664" y="142317"/>
                  <a:pt x="153722" y="137730"/>
                </a:cubicBezTo>
                <a:cubicBezTo>
                  <a:pt x="156780" y="133143"/>
                  <a:pt x="155541" y="127028"/>
                  <a:pt x="150954" y="123970"/>
                </a:cubicBezTo>
                <a:lnTo>
                  <a:pt x="115705" y="100498"/>
                </a:lnTo>
                <a:lnTo>
                  <a:pt x="115705" y="49588"/>
                </a:lnTo>
                <a:cubicBezTo>
                  <a:pt x="115705" y="44092"/>
                  <a:pt x="111283" y="39670"/>
                  <a:pt x="105787" y="39670"/>
                </a:cubicBezTo>
                <a:cubicBezTo>
                  <a:pt x="100291" y="39670"/>
                  <a:pt x="95870" y="44092"/>
                  <a:pt x="95870" y="4958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713644" y="1198924"/>
            <a:ext cx="5024902" cy="273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6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Computational Constraints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449176" y="1613258"/>
            <a:ext cx="5183584" cy="740512"/>
          </a:xfrm>
          <a:custGeom>
            <a:avLst/>
            <a:gdLst/>
            <a:ahLst/>
            <a:cxnLst/>
            <a:rect l="l" t="t" r="r" b="b"/>
            <a:pathLst>
              <a:path w="5183584" h="740512" extrusionOk="0">
                <a:moveTo>
                  <a:pt x="70526" y="0"/>
                </a:moveTo>
                <a:lnTo>
                  <a:pt x="5113057" y="0"/>
                </a:lnTo>
                <a:cubicBezTo>
                  <a:pt x="5152008" y="0"/>
                  <a:pt x="5183584" y="31576"/>
                  <a:pt x="5183584" y="70526"/>
                </a:cubicBezTo>
                <a:lnTo>
                  <a:pt x="5183584" y="669986"/>
                </a:lnTo>
                <a:cubicBezTo>
                  <a:pt x="5183584" y="708936"/>
                  <a:pt x="5152008" y="740512"/>
                  <a:pt x="5113057" y="740512"/>
                </a:cubicBezTo>
                <a:lnTo>
                  <a:pt x="70526" y="740512"/>
                </a:lnTo>
                <a:cubicBezTo>
                  <a:pt x="31576" y="740512"/>
                  <a:pt x="0" y="708936"/>
                  <a:pt x="0" y="669986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590226" y="1789570"/>
            <a:ext cx="1877727" cy="24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Single Training Iteration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0567860" y="1754308"/>
            <a:ext cx="1049059" cy="31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82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~35 days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590226" y="2142195"/>
            <a:ext cx="4901484" cy="70525"/>
          </a:xfrm>
          <a:custGeom>
            <a:avLst/>
            <a:gdLst/>
            <a:ahLst/>
            <a:cxnLst/>
            <a:rect l="l" t="t" r="r" b="b"/>
            <a:pathLst>
              <a:path w="4901484" h="70525" extrusionOk="0">
                <a:moveTo>
                  <a:pt x="35262" y="0"/>
                </a:moveTo>
                <a:lnTo>
                  <a:pt x="4866221" y="0"/>
                </a:lnTo>
                <a:cubicBezTo>
                  <a:pt x="4885696" y="0"/>
                  <a:pt x="4901484" y="15788"/>
                  <a:pt x="4901484" y="35262"/>
                </a:cubicBezTo>
                <a:lnTo>
                  <a:pt x="4901484" y="35262"/>
                </a:lnTo>
                <a:cubicBezTo>
                  <a:pt x="4901484" y="54737"/>
                  <a:pt x="4885696" y="70525"/>
                  <a:pt x="4866221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590226" y="2142195"/>
            <a:ext cx="4901484" cy="70525"/>
          </a:xfrm>
          <a:custGeom>
            <a:avLst/>
            <a:gdLst/>
            <a:ahLst/>
            <a:cxnLst/>
            <a:rect l="l" t="t" r="r" b="b"/>
            <a:pathLst>
              <a:path w="4901484" h="70525" extrusionOk="0">
                <a:moveTo>
                  <a:pt x="35262" y="0"/>
                </a:moveTo>
                <a:lnTo>
                  <a:pt x="4866221" y="0"/>
                </a:lnTo>
                <a:cubicBezTo>
                  <a:pt x="4885696" y="0"/>
                  <a:pt x="4901484" y="15788"/>
                  <a:pt x="4901484" y="35262"/>
                </a:cubicBezTo>
                <a:lnTo>
                  <a:pt x="4901484" y="35262"/>
                </a:lnTo>
                <a:cubicBezTo>
                  <a:pt x="4901484" y="54737"/>
                  <a:pt x="4885696" y="70525"/>
                  <a:pt x="4866221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449176" y="2494820"/>
            <a:ext cx="5183584" cy="740512"/>
          </a:xfrm>
          <a:custGeom>
            <a:avLst/>
            <a:gdLst/>
            <a:ahLst/>
            <a:cxnLst/>
            <a:rect l="l" t="t" r="r" b="b"/>
            <a:pathLst>
              <a:path w="5183584" h="740512" extrusionOk="0">
                <a:moveTo>
                  <a:pt x="70526" y="0"/>
                </a:moveTo>
                <a:lnTo>
                  <a:pt x="5113057" y="0"/>
                </a:lnTo>
                <a:cubicBezTo>
                  <a:pt x="5152008" y="0"/>
                  <a:pt x="5183584" y="31576"/>
                  <a:pt x="5183584" y="70526"/>
                </a:cubicBezTo>
                <a:lnTo>
                  <a:pt x="5183584" y="669986"/>
                </a:lnTo>
                <a:cubicBezTo>
                  <a:pt x="5183584" y="708936"/>
                  <a:pt x="5152008" y="740512"/>
                  <a:pt x="5113057" y="740512"/>
                </a:cubicBezTo>
                <a:lnTo>
                  <a:pt x="70526" y="740512"/>
                </a:lnTo>
                <a:cubicBezTo>
                  <a:pt x="31576" y="740512"/>
                  <a:pt x="0" y="708936"/>
                  <a:pt x="0" y="669986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590226" y="2671132"/>
            <a:ext cx="1780755" cy="24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Hyperparameter Search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0550091" y="2635870"/>
            <a:ext cx="1066690" cy="31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82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Months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590226" y="3023757"/>
            <a:ext cx="4901484" cy="70525"/>
          </a:xfrm>
          <a:custGeom>
            <a:avLst/>
            <a:gdLst/>
            <a:ahLst/>
            <a:cxnLst/>
            <a:rect l="l" t="t" r="r" b="b"/>
            <a:pathLst>
              <a:path w="4901484" h="70525" extrusionOk="0">
                <a:moveTo>
                  <a:pt x="35262" y="0"/>
                </a:moveTo>
                <a:lnTo>
                  <a:pt x="4866221" y="0"/>
                </a:lnTo>
                <a:cubicBezTo>
                  <a:pt x="4885696" y="0"/>
                  <a:pt x="4901484" y="15788"/>
                  <a:pt x="4901484" y="35262"/>
                </a:cubicBezTo>
                <a:lnTo>
                  <a:pt x="4901484" y="35262"/>
                </a:lnTo>
                <a:cubicBezTo>
                  <a:pt x="4901484" y="54737"/>
                  <a:pt x="4885696" y="70525"/>
                  <a:pt x="4866221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590226" y="3023757"/>
            <a:ext cx="4901484" cy="70525"/>
          </a:xfrm>
          <a:custGeom>
            <a:avLst/>
            <a:gdLst/>
            <a:ahLst/>
            <a:cxnLst/>
            <a:rect l="l" t="t" r="r" b="b"/>
            <a:pathLst>
              <a:path w="4901484" h="70525" extrusionOk="0">
                <a:moveTo>
                  <a:pt x="35262" y="0"/>
                </a:moveTo>
                <a:lnTo>
                  <a:pt x="4866221" y="0"/>
                </a:lnTo>
                <a:cubicBezTo>
                  <a:pt x="4885696" y="0"/>
                  <a:pt x="4901484" y="15788"/>
                  <a:pt x="4901484" y="35262"/>
                </a:cubicBezTo>
                <a:lnTo>
                  <a:pt x="4901484" y="35262"/>
                </a:lnTo>
                <a:cubicBezTo>
                  <a:pt x="4901484" y="54737"/>
                  <a:pt x="4885696" y="70525"/>
                  <a:pt x="4866221" y="70525"/>
                </a:cubicBezTo>
                <a:lnTo>
                  <a:pt x="35262" y="70525"/>
                </a:lnTo>
                <a:cubicBezTo>
                  <a:pt x="15801" y="70525"/>
                  <a:pt x="0" y="54724"/>
                  <a:pt x="0" y="352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449176" y="3376382"/>
            <a:ext cx="5245293" cy="1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2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Timeline incompatible with project constraints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246416" y="3984659"/>
            <a:ext cx="5589102" cy="2865076"/>
          </a:xfrm>
          <a:custGeom>
            <a:avLst/>
            <a:gdLst/>
            <a:ahLst/>
            <a:cxnLst/>
            <a:rect l="l" t="t" r="r" b="b"/>
            <a:pathLst>
              <a:path w="5589102" h="2865076" extrusionOk="0">
                <a:moveTo>
                  <a:pt x="70538" y="0"/>
                </a:moveTo>
                <a:lnTo>
                  <a:pt x="5518564" y="0"/>
                </a:lnTo>
                <a:cubicBezTo>
                  <a:pt x="5557521" y="0"/>
                  <a:pt x="5589102" y="31581"/>
                  <a:pt x="5589102" y="70538"/>
                </a:cubicBezTo>
                <a:lnTo>
                  <a:pt x="5589102" y="2794538"/>
                </a:lnTo>
                <a:cubicBezTo>
                  <a:pt x="5589102" y="2833495"/>
                  <a:pt x="5557521" y="2865076"/>
                  <a:pt x="5518564" y="2865076"/>
                </a:cubicBezTo>
                <a:lnTo>
                  <a:pt x="70538" y="2865076"/>
                </a:lnTo>
                <a:cubicBezTo>
                  <a:pt x="31581" y="2865076"/>
                  <a:pt x="0" y="2833495"/>
                  <a:pt x="0" y="2794538"/>
                </a:cubicBezTo>
                <a:lnTo>
                  <a:pt x="0" y="70538"/>
                </a:lnTo>
                <a:cubicBezTo>
                  <a:pt x="0" y="31607"/>
                  <a:pt x="31607" y="0"/>
                  <a:pt x="70538" y="0"/>
                </a:cubicBezTo>
                <a:close/>
              </a:path>
            </a:pathLst>
          </a:custGeom>
          <a:solidFill>
            <a:srgbClr val="F9FAFB"/>
          </a:solidFill>
          <a:ln w="25400" cap="flat" cmpd="sng">
            <a:solidFill>
              <a:srgbClr val="8B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493254" y="4235905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 extrusionOk="0">
                <a:moveTo>
                  <a:pt x="198393" y="79341"/>
                </a:moveTo>
                <a:lnTo>
                  <a:pt x="201657" y="79341"/>
                </a:lnTo>
                <a:cubicBezTo>
                  <a:pt x="207153" y="79341"/>
                  <a:pt x="211575" y="74919"/>
                  <a:pt x="211575" y="69423"/>
                </a:cubicBezTo>
                <a:lnTo>
                  <a:pt x="211575" y="9918"/>
                </a:lnTo>
                <a:cubicBezTo>
                  <a:pt x="211575" y="5909"/>
                  <a:pt x="209178" y="2273"/>
                  <a:pt x="205459" y="744"/>
                </a:cubicBezTo>
                <a:cubicBezTo>
                  <a:pt x="201740" y="-785"/>
                  <a:pt x="197484" y="83"/>
                  <a:pt x="194632" y="2893"/>
                </a:cubicBezTo>
                <a:lnTo>
                  <a:pt x="173268" y="24298"/>
                </a:lnTo>
                <a:cubicBezTo>
                  <a:pt x="154962" y="9132"/>
                  <a:pt x="131408" y="0"/>
                  <a:pt x="105787" y="0"/>
                </a:cubicBezTo>
                <a:cubicBezTo>
                  <a:pt x="52480" y="0"/>
                  <a:pt x="8389" y="39422"/>
                  <a:pt x="1074" y="90704"/>
                </a:cubicBezTo>
                <a:cubicBezTo>
                  <a:pt x="41" y="97936"/>
                  <a:pt x="5041" y="104630"/>
                  <a:pt x="12273" y="105663"/>
                </a:cubicBezTo>
                <a:cubicBezTo>
                  <a:pt x="19505" y="106697"/>
                  <a:pt x="26199" y="101655"/>
                  <a:pt x="27232" y="94465"/>
                </a:cubicBezTo>
                <a:cubicBezTo>
                  <a:pt x="32728" y="55993"/>
                  <a:pt x="65828" y="26447"/>
                  <a:pt x="105787" y="26447"/>
                </a:cubicBezTo>
                <a:cubicBezTo>
                  <a:pt x="124135" y="26447"/>
                  <a:pt x="140995" y="32645"/>
                  <a:pt x="154425" y="43100"/>
                </a:cubicBezTo>
                <a:lnTo>
                  <a:pt x="135127" y="62398"/>
                </a:lnTo>
                <a:cubicBezTo>
                  <a:pt x="132276" y="65249"/>
                  <a:pt x="131449" y="69506"/>
                  <a:pt x="132978" y="73225"/>
                </a:cubicBezTo>
                <a:cubicBezTo>
                  <a:pt x="134507" y="76944"/>
                  <a:pt x="138143" y="79341"/>
                  <a:pt x="142152" y="79341"/>
                </a:cubicBezTo>
                <a:lnTo>
                  <a:pt x="198393" y="79341"/>
                </a:lnTo>
                <a:close/>
                <a:moveTo>
                  <a:pt x="210542" y="120870"/>
                </a:moveTo>
                <a:cubicBezTo>
                  <a:pt x="211575" y="113639"/>
                  <a:pt x="206533" y="106944"/>
                  <a:pt x="199343" y="105911"/>
                </a:cubicBezTo>
                <a:cubicBezTo>
                  <a:pt x="192153" y="104878"/>
                  <a:pt x="185417" y="109920"/>
                  <a:pt x="184384" y="117110"/>
                </a:cubicBezTo>
                <a:cubicBezTo>
                  <a:pt x="178888" y="155541"/>
                  <a:pt x="145788" y="185087"/>
                  <a:pt x="105829" y="185087"/>
                </a:cubicBezTo>
                <a:cubicBezTo>
                  <a:pt x="87481" y="185087"/>
                  <a:pt x="70621" y="178888"/>
                  <a:pt x="57191" y="168433"/>
                </a:cubicBezTo>
                <a:lnTo>
                  <a:pt x="76448" y="149177"/>
                </a:lnTo>
                <a:cubicBezTo>
                  <a:pt x="79299" y="146325"/>
                  <a:pt x="80126" y="142069"/>
                  <a:pt x="78597" y="138350"/>
                </a:cubicBezTo>
                <a:cubicBezTo>
                  <a:pt x="77068" y="134631"/>
                  <a:pt x="73431" y="132234"/>
                  <a:pt x="69423" y="132234"/>
                </a:cubicBezTo>
                <a:lnTo>
                  <a:pt x="9918" y="132234"/>
                </a:lnTo>
                <a:cubicBezTo>
                  <a:pt x="4422" y="132234"/>
                  <a:pt x="0" y="136656"/>
                  <a:pt x="0" y="142152"/>
                </a:cubicBezTo>
                <a:lnTo>
                  <a:pt x="0" y="201657"/>
                </a:lnTo>
                <a:cubicBezTo>
                  <a:pt x="0" y="205666"/>
                  <a:pt x="2397" y="209302"/>
                  <a:pt x="6116" y="210831"/>
                </a:cubicBezTo>
                <a:cubicBezTo>
                  <a:pt x="9835" y="212360"/>
                  <a:pt x="14091" y="211492"/>
                  <a:pt x="16943" y="208682"/>
                </a:cubicBezTo>
                <a:lnTo>
                  <a:pt x="38348" y="187277"/>
                </a:lnTo>
                <a:cubicBezTo>
                  <a:pt x="56613" y="202442"/>
                  <a:pt x="80167" y="211575"/>
                  <a:pt x="105787" y="211575"/>
                </a:cubicBezTo>
                <a:cubicBezTo>
                  <a:pt x="159094" y="211575"/>
                  <a:pt x="203186" y="172152"/>
                  <a:pt x="210500" y="12087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731275" y="4205050"/>
            <a:ext cx="4989640" cy="273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6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Strategic Pivot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466807" y="4619384"/>
            <a:ext cx="5227662" cy="51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" dirty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Strategy adjusted to use </a:t>
            </a:r>
            <a:r>
              <a:rPr lang="en-US" sz="1249" dirty="0" err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ProtMamba</a:t>
            </a:r>
            <a:r>
              <a:rPr lang="en-US" sz="1249" dirty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as a </a:t>
            </a:r>
            <a:r>
              <a:rPr lang="en-US" sz="1249" b="1" dirty="0">
                <a:solidFill>
                  <a:srgbClr val="FFFFFF"/>
                </a:solidFill>
                <a:highlight>
                  <a:srgbClr val="8B0000"/>
                </a:highlight>
                <a:latin typeface="Sorts Mill Goudy"/>
                <a:ea typeface="Sorts Mill Goudy"/>
                <a:cs typeface="Sorts Mill Goudy"/>
                <a:sym typeface="Sorts Mill Goudy"/>
              </a:rPr>
              <a:t>frozen feature extractor </a:t>
            </a:r>
            <a:r>
              <a:rPr lang="en-US" sz="1249" dirty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471215" y="5276148"/>
            <a:ext cx="5139505" cy="1348790"/>
          </a:xfrm>
          <a:custGeom>
            <a:avLst/>
            <a:gdLst/>
            <a:ahLst/>
            <a:cxnLst/>
            <a:rect l="l" t="t" r="r" b="b"/>
            <a:pathLst>
              <a:path w="5139505" h="1348790" extrusionOk="0">
                <a:moveTo>
                  <a:pt x="70528" y="0"/>
                </a:moveTo>
                <a:lnTo>
                  <a:pt x="5068977" y="0"/>
                </a:lnTo>
                <a:cubicBezTo>
                  <a:pt x="5107903" y="0"/>
                  <a:pt x="5139505" y="31603"/>
                  <a:pt x="5139505" y="70528"/>
                </a:cubicBezTo>
                <a:lnTo>
                  <a:pt x="5139505" y="1278261"/>
                </a:lnTo>
                <a:cubicBezTo>
                  <a:pt x="5139505" y="1317187"/>
                  <a:pt x="5107903" y="1348790"/>
                  <a:pt x="5068977" y="1348790"/>
                </a:cubicBezTo>
                <a:lnTo>
                  <a:pt x="70528" y="1348790"/>
                </a:lnTo>
                <a:cubicBezTo>
                  <a:pt x="31603" y="1348790"/>
                  <a:pt x="0" y="1317187"/>
                  <a:pt x="0" y="1278261"/>
                </a:cubicBezTo>
                <a:lnTo>
                  <a:pt x="0" y="70528"/>
                </a:lnTo>
                <a:cubicBezTo>
                  <a:pt x="0" y="31603"/>
                  <a:pt x="31603" y="0"/>
                  <a:pt x="70528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616672" y="5421605"/>
            <a:ext cx="4919115" cy="21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b="1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New Approach: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616672" y="5703705"/>
            <a:ext cx="211575" cy="21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828247" y="5703705"/>
            <a:ext cx="3446907" cy="21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Generate contextual embeddings for sequence windows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616672" y="5985805"/>
            <a:ext cx="211575" cy="21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828247" y="5985805"/>
            <a:ext cx="3111913" cy="21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Use embeddings as input to downstream classifiers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616672" y="6267905"/>
            <a:ext cx="211575" cy="21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828247" y="6267905"/>
            <a:ext cx="3050204" cy="21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Enable efficient training with rich representations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876300" y="381000"/>
            <a:ext cx="6553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New Architecture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81000" y="1028700"/>
            <a:ext cx="11430000" cy="1666875"/>
          </a:xfrm>
          <a:custGeom>
            <a:avLst/>
            <a:gdLst/>
            <a:ahLst/>
            <a:cxnLst/>
            <a:rect l="l" t="t" r="r" b="b"/>
            <a:pathLst>
              <a:path w="11430000" h="1666875" extrusionOk="0">
                <a:moveTo>
                  <a:pt x="76193" y="0"/>
                </a:moveTo>
                <a:lnTo>
                  <a:pt x="11353807" y="0"/>
                </a:lnTo>
                <a:cubicBezTo>
                  <a:pt x="11395859" y="0"/>
                  <a:pt x="11430000" y="34141"/>
                  <a:pt x="11430000" y="76193"/>
                </a:cubicBezTo>
                <a:lnTo>
                  <a:pt x="11430000" y="1590682"/>
                </a:lnTo>
                <a:cubicBezTo>
                  <a:pt x="11430000" y="1632734"/>
                  <a:pt x="11395859" y="1666875"/>
                  <a:pt x="11353807" y="1666875"/>
                </a:cubicBezTo>
                <a:lnTo>
                  <a:pt x="76193" y="1666875"/>
                </a:lnTo>
                <a:cubicBezTo>
                  <a:pt x="34141" y="1666875"/>
                  <a:pt x="0" y="1632734"/>
                  <a:pt x="0" y="15906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610955" y="1238250"/>
            <a:ext cx="2970089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CNN + RNN ARCHITECTURE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781050" y="1647825"/>
            <a:ext cx="1352550" cy="809625"/>
          </a:xfrm>
          <a:custGeom>
            <a:avLst/>
            <a:gdLst/>
            <a:ahLst/>
            <a:cxnLst/>
            <a:rect l="l" t="t" r="r" b="b"/>
            <a:pathLst>
              <a:path w="1352550" h="809625" extrusionOk="0">
                <a:moveTo>
                  <a:pt x="76202" y="0"/>
                </a:moveTo>
                <a:lnTo>
                  <a:pt x="1276348" y="0"/>
                </a:lnTo>
                <a:cubicBezTo>
                  <a:pt x="1318433" y="0"/>
                  <a:pt x="1352550" y="34117"/>
                  <a:pt x="1352550" y="76202"/>
                </a:cubicBezTo>
                <a:lnTo>
                  <a:pt x="1352550" y="733423"/>
                </a:lnTo>
                <a:cubicBezTo>
                  <a:pt x="1352550" y="775508"/>
                  <a:pt x="1318433" y="809625"/>
                  <a:pt x="127634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 w="254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871538" y="1771650"/>
            <a:ext cx="11715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Protein Sequence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76300" y="2190750"/>
            <a:ext cx="1162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Window: 51 residues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286000" y="19383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2657475" y="1733550"/>
            <a:ext cx="1524000" cy="638175"/>
          </a:xfrm>
          <a:custGeom>
            <a:avLst/>
            <a:gdLst/>
            <a:ahLst/>
            <a:cxnLst/>
            <a:rect l="l" t="t" r="r" b="b"/>
            <a:pathLst>
              <a:path w="1524000" h="638175" extrusionOk="0">
                <a:moveTo>
                  <a:pt x="76198" y="0"/>
                </a:moveTo>
                <a:lnTo>
                  <a:pt x="1447802" y="0"/>
                </a:lnTo>
                <a:cubicBezTo>
                  <a:pt x="1489885" y="0"/>
                  <a:pt x="1524000" y="34115"/>
                  <a:pt x="1524000" y="76198"/>
                </a:cubicBezTo>
                <a:lnTo>
                  <a:pt x="1524000" y="561977"/>
                </a:lnTo>
                <a:cubicBezTo>
                  <a:pt x="1524000" y="604060"/>
                  <a:pt x="1489885" y="638175"/>
                  <a:pt x="1447802" y="638175"/>
                </a:cubicBezTo>
                <a:lnTo>
                  <a:pt x="76198" y="638175"/>
                </a:lnTo>
                <a:cubicBezTo>
                  <a:pt x="34143" y="638175"/>
                  <a:pt x="0" y="604032"/>
                  <a:pt x="0" y="5619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2733675" y="184785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ProtMamba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743200" y="2114550"/>
            <a:ext cx="13525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Frozen Feature Extractor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324350" y="19383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705350" y="1743075"/>
            <a:ext cx="1352550" cy="619125"/>
          </a:xfrm>
          <a:custGeom>
            <a:avLst/>
            <a:gdLst/>
            <a:ahLst/>
            <a:cxnLst/>
            <a:rect l="l" t="t" r="r" b="b"/>
            <a:pathLst>
              <a:path w="1352550" h="619125" extrusionOk="0">
                <a:moveTo>
                  <a:pt x="76202" y="0"/>
                </a:moveTo>
                <a:lnTo>
                  <a:pt x="1276348" y="0"/>
                </a:lnTo>
                <a:cubicBezTo>
                  <a:pt x="1318433" y="0"/>
                  <a:pt x="1352550" y="34117"/>
                  <a:pt x="1352550" y="76202"/>
                </a:cubicBezTo>
                <a:lnTo>
                  <a:pt x="1352550" y="542923"/>
                </a:lnTo>
                <a:cubicBezTo>
                  <a:pt x="1352550" y="585008"/>
                  <a:pt x="1318433" y="619125"/>
                  <a:pt x="1276348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 w="25400" cap="flat" cmpd="sng">
            <a:solidFill>
              <a:srgbClr val="8B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795838" y="1866900"/>
            <a:ext cx="1171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51 × 768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800600" y="2095500"/>
            <a:ext cx="1162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Embeddings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210300" y="19383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581775" y="1733550"/>
            <a:ext cx="1219200" cy="638175"/>
          </a:xfrm>
          <a:custGeom>
            <a:avLst/>
            <a:gdLst/>
            <a:ahLst/>
            <a:cxnLst/>
            <a:rect l="l" t="t" r="r" b="b"/>
            <a:pathLst>
              <a:path w="1219200" h="638175" extrusionOk="0">
                <a:moveTo>
                  <a:pt x="76198" y="0"/>
                </a:moveTo>
                <a:lnTo>
                  <a:pt x="1143002" y="0"/>
                </a:lnTo>
                <a:cubicBezTo>
                  <a:pt x="1185085" y="0"/>
                  <a:pt x="1219200" y="34115"/>
                  <a:pt x="1219200" y="76198"/>
                </a:cubicBezTo>
                <a:lnTo>
                  <a:pt x="1219200" y="561977"/>
                </a:lnTo>
                <a:cubicBezTo>
                  <a:pt x="1219200" y="604060"/>
                  <a:pt x="1185085" y="638175"/>
                  <a:pt x="1143002" y="638175"/>
                </a:cubicBezTo>
                <a:lnTo>
                  <a:pt x="76198" y="638175"/>
                </a:lnTo>
                <a:cubicBezTo>
                  <a:pt x="34143" y="638175"/>
                  <a:pt x="0" y="604032"/>
                  <a:pt x="0" y="5619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657975" y="184785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CNN Layers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667500" y="2114550"/>
            <a:ext cx="1047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Feature Extraction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943850" y="19383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315325" y="1733550"/>
            <a:ext cx="1219200" cy="638175"/>
          </a:xfrm>
          <a:custGeom>
            <a:avLst/>
            <a:gdLst/>
            <a:ahLst/>
            <a:cxnLst/>
            <a:rect l="l" t="t" r="r" b="b"/>
            <a:pathLst>
              <a:path w="1219200" h="638175" extrusionOk="0">
                <a:moveTo>
                  <a:pt x="76198" y="0"/>
                </a:moveTo>
                <a:lnTo>
                  <a:pt x="1143002" y="0"/>
                </a:lnTo>
                <a:cubicBezTo>
                  <a:pt x="1185085" y="0"/>
                  <a:pt x="1219200" y="34115"/>
                  <a:pt x="1219200" y="76198"/>
                </a:cubicBezTo>
                <a:lnTo>
                  <a:pt x="1219200" y="561977"/>
                </a:lnTo>
                <a:cubicBezTo>
                  <a:pt x="1219200" y="604060"/>
                  <a:pt x="1185085" y="638175"/>
                  <a:pt x="1143002" y="638175"/>
                </a:cubicBezTo>
                <a:lnTo>
                  <a:pt x="76198" y="638175"/>
                </a:lnTo>
                <a:cubicBezTo>
                  <a:pt x="34143" y="638175"/>
                  <a:pt x="0" y="604032"/>
                  <a:pt x="0" y="5619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391525" y="184785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GRU Layers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401050" y="2114550"/>
            <a:ext cx="1047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Sequence Modeling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9677400" y="19383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0058400" y="1609725"/>
            <a:ext cx="1352550" cy="885825"/>
          </a:xfrm>
          <a:custGeom>
            <a:avLst/>
            <a:gdLst/>
            <a:ahLst/>
            <a:cxnLst/>
            <a:rect l="l" t="t" r="r" b="b"/>
            <a:pathLst>
              <a:path w="1352550" h="885825" extrusionOk="0">
                <a:moveTo>
                  <a:pt x="76199" y="0"/>
                </a:moveTo>
                <a:lnTo>
                  <a:pt x="1276351" y="0"/>
                </a:lnTo>
                <a:cubicBezTo>
                  <a:pt x="1318435" y="0"/>
                  <a:pt x="1352550" y="34115"/>
                  <a:pt x="1352550" y="76199"/>
                </a:cubicBezTo>
                <a:lnTo>
                  <a:pt x="1352550" y="809626"/>
                </a:lnTo>
                <a:cubicBezTo>
                  <a:pt x="1352550" y="851710"/>
                  <a:pt x="1318435" y="885825"/>
                  <a:pt x="127635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25400" cap="flat" cmpd="sng">
            <a:solidFill>
              <a:srgbClr val="8B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0144125" y="1733550"/>
            <a:ext cx="118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PTM Prediction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0153650" y="2228850"/>
            <a:ext cx="1162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Binary Classification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00050" y="2886075"/>
            <a:ext cx="5581650" cy="3590925"/>
          </a:xfrm>
          <a:custGeom>
            <a:avLst/>
            <a:gdLst/>
            <a:ahLst/>
            <a:cxnLst/>
            <a:rect l="l" t="t" r="r" b="b"/>
            <a:pathLst>
              <a:path w="5581650" h="3590925" extrusionOk="0">
                <a:moveTo>
                  <a:pt x="0" y="0"/>
                </a:moveTo>
                <a:lnTo>
                  <a:pt x="5505451" y="0"/>
                </a:lnTo>
                <a:cubicBezTo>
                  <a:pt x="5547506" y="0"/>
                  <a:pt x="5581650" y="34144"/>
                  <a:pt x="5581650" y="76199"/>
                </a:cubicBezTo>
                <a:lnTo>
                  <a:pt x="5581650" y="3514726"/>
                </a:lnTo>
                <a:cubicBezTo>
                  <a:pt x="5581650" y="3556781"/>
                  <a:pt x="5547506" y="3590925"/>
                  <a:pt x="5505451" y="3590925"/>
                </a:cubicBezTo>
                <a:lnTo>
                  <a:pt x="0" y="35909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00050" y="2886075"/>
            <a:ext cx="38100" cy="3590925"/>
          </a:xfrm>
          <a:custGeom>
            <a:avLst/>
            <a:gdLst/>
            <a:ahLst/>
            <a:cxnLst/>
            <a:rect l="l" t="t" r="r" b="b"/>
            <a:pathLst>
              <a:path w="38100" h="3590925" extrusionOk="0">
                <a:moveTo>
                  <a:pt x="0" y="0"/>
                </a:moveTo>
                <a:lnTo>
                  <a:pt x="38100" y="0"/>
                </a:lnTo>
                <a:lnTo>
                  <a:pt x="38100" y="3590925"/>
                </a:lnTo>
                <a:lnTo>
                  <a:pt x="0" y="35909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33413" y="3114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847725" y="3076575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Model Variants Tested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09600" y="3495675"/>
            <a:ext cx="5181600" cy="838200"/>
          </a:xfrm>
          <a:custGeom>
            <a:avLst/>
            <a:gdLst/>
            <a:ahLst/>
            <a:cxnLst/>
            <a:rect l="l" t="t" r="r" b="b"/>
            <a:pathLst>
              <a:path w="5181600" h="838200" extrusionOk="0">
                <a:moveTo>
                  <a:pt x="76201" y="0"/>
                </a:moveTo>
                <a:lnTo>
                  <a:pt x="5105399" y="0"/>
                </a:lnTo>
                <a:cubicBezTo>
                  <a:pt x="5147484" y="0"/>
                  <a:pt x="5181600" y="34116"/>
                  <a:pt x="5181600" y="76201"/>
                </a:cubicBezTo>
                <a:lnTo>
                  <a:pt x="5181600" y="761999"/>
                </a:lnTo>
                <a:cubicBezTo>
                  <a:pt x="5181600" y="804084"/>
                  <a:pt x="5147484" y="838200"/>
                  <a:pt x="51053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62000" y="3667125"/>
            <a:ext cx="981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CNN + GRU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822775" y="3648075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 extrusionOk="0">
                <a:moveTo>
                  <a:pt x="38101" y="0"/>
                </a:moveTo>
                <a:lnTo>
                  <a:pt x="781049" y="0"/>
                </a:lnTo>
                <a:cubicBezTo>
                  <a:pt x="802092" y="0"/>
                  <a:pt x="819150" y="17058"/>
                  <a:pt x="819150" y="38101"/>
                </a:cubicBezTo>
                <a:lnTo>
                  <a:pt x="819150" y="228599"/>
                </a:lnTo>
                <a:cubicBezTo>
                  <a:pt x="819150" y="249628"/>
                  <a:pt x="802078" y="266700"/>
                  <a:pt x="7810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822775" y="3648075"/>
            <a:ext cx="885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OPTIMAL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62000" y="3990975"/>
            <a:ext cx="4943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Convolutional + Gated Recurrent Unit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09600" y="4486275"/>
            <a:ext cx="5181600" cy="838200"/>
          </a:xfrm>
          <a:custGeom>
            <a:avLst/>
            <a:gdLst/>
            <a:ahLst/>
            <a:cxnLst/>
            <a:rect l="l" t="t" r="r" b="b"/>
            <a:pathLst>
              <a:path w="5181600" h="838200" extrusionOk="0">
                <a:moveTo>
                  <a:pt x="76201" y="0"/>
                </a:moveTo>
                <a:lnTo>
                  <a:pt x="5105399" y="0"/>
                </a:lnTo>
                <a:cubicBezTo>
                  <a:pt x="5147484" y="0"/>
                  <a:pt x="5181600" y="34116"/>
                  <a:pt x="5181600" y="76201"/>
                </a:cubicBezTo>
                <a:lnTo>
                  <a:pt x="5181600" y="761999"/>
                </a:lnTo>
                <a:cubicBezTo>
                  <a:pt x="5181600" y="804084"/>
                  <a:pt x="5147484" y="838200"/>
                  <a:pt x="51053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62000" y="4657725"/>
            <a:ext cx="1209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CNN + BiLSTM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827389" y="4638675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 extrusionOk="0">
                <a:moveTo>
                  <a:pt x="38101" y="0"/>
                </a:moveTo>
                <a:lnTo>
                  <a:pt x="771524" y="0"/>
                </a:lnTo>
                <a:cubicBezTo>
                  <a:pt x="792567" y="0"/>
                  <a:pt x="809625" y="17058"/>
                  <a:pt x="809625" y="38101"/>
                </a:cubicBezTo>
                <a:lnTo>
                  <a:pt x="809625" y="228599"/>
                </a:lnTo>
                <a:cubicBezTo>
                  <a:pt x="809625" y="249628"/>
                  <a:pt x="792553" y="266700"/>
                  <a:pt x="7715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B7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827389" y="4638675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Alternative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62000" y="4981575"/>
            <a:ext cx="4943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Convolutional + Bidirectional LSTM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229350" y="2886075"/>
            <a:ext cx="5581650" cy="3590925"/>
          </a:xfrm>
          <a:custGeom>
            <a:avLst/>
            <a:gdLst/>
            <a:ahLst/>
            <a:cxnLst/>
            <a:rect l="l" t="t" r="r" b="b"/>
            <a:pathLst>
              <a:path w="5581650" h="3590925" extrusionOk="0">
                <a:moveTo>
                  <a:pt x="0" y="0"/>
                </a:moveTo>
                <a:lnTo>
                  <a:pt x="5505451" y="0"/>
                </a:lnTo>
                <a:cubicBezTo>
                  <a:pt x="5547506" y="0"/>
                  <a:pt x="5581650" y="34144"/>
                  <a:pt x="5581650" y="76199"/>
                </a:cubicBezTo>
                <a:lnTo>
                  <a:pt x="5581650" y="3514726"/>
                </a:lnTo>
                <a:cubicBezTo>
                  <a:pt x="5581650" y="3556781"/>
                  <a:pt x="5547506" y="3590925"/>
                  <a:pt x="5505451" y="3590925"/>
                </a:cubicBezTo>
                <a:lnTo>
                  <a:pt x="0" y="35909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229350" y="2886075"/>
            <a:ext cx="38100" cy="3590925"/>
          </a:xfrm>
          <a:custGeom>
            <a:avLst/>
            <a:gdLst/>
            <a:ahLst/>
            <a:cxnLst/>
            <a:rect l="l" t="t" r="r" b="b"/>
            <a:pathLst>
              <a:path w="38100" h="3590925" extrusionOk="0">
                <a:moveTo>
                  <a:pt x="0" y="0"/>
                </a:moveTo>
                <a:lnTo>
                  <a:pt x="38100" y="0"/>
                </a:lnTo>
                <a:lnTo>
                  <a:pt x="38100" y="3590925"/>
                </a:lnTo>
                <a:lnTo>
                  <a:pt x="0" y="35909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62713" y="3114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677025" y="3076575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Hyperparameter Search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438900" y="3495675"/>
            <a:ext cx="52578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Systematic search over convolutional and recurrent layer depths to identify optimal configuration.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48425" y="4152900"/>
            <a:ext cx="5162550" cy="1619250"/>
          </a:xfrm>
          <a:custGeom>
            <a:avLst/>
            <a:gdLst/>
            <a:ahLst/>
            <a:cxnLst/>
            <a:rect l="l" t="t" r="r" b="b"/>
            <a:pathLst>
              <a:path w="5162550" h="1619250" extrusionOk="0">
                <a:moveTo>
                  <a:pt x="76202" y="0"/>
                </a:moveTo>
                <a:lnTo>
                  <a:pt x="5086348" y="0"/>
                </a:lnTo>
                <a:cubicBezTo>
                  <a:pt x="5128433" y="0"/>
                  <a:pt x="5162550" y="34117"/>
                  <a:pt x="5162550" y="76202"/>
                </a:cubicBezTo>
                <a:lnTo>
                  <a:pt x="5162550" y="1543048"/>
                </a:lnTo>
                <a:cubicBezTo>
                  <a:pt x="5162550" y="1585133"/>
                  <a:pt x="5128433" y="1619250"/>
                  <a:pt x="5086348" y="1619250"/>
                </a:cubicBezTo>
                <a:lnTo>
                  <a:pt x="76202" y="1619250"/>
                </a:lnTo>
                <a:cubicBezTo>
                  <a:pt x="34117" y="1619250"/>
                  <a:pt x="0" y="1585133"/>
                  <a:pt x="0" y="154304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 w="25400" cap="flat" cmpd="sng">
            <a:solidFill>
              <a:srgbClr val="8B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610350" y="4314825"/>
            <a:ext cx="4914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Best Configuration: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615113" y="4624388"/>
            <a:ext cx="2352675" cy="676275"/>
          </a:xfrm>
          <a:custGeom>
            <a:avLst/>
            <a:gdLst/>
            <a:ahLst/>
            <a:cxnLst/>
            <a:rect l="l" t="t" r="r" b="b"/>
            <a:pathLst>
              <a:path w="2352675" h="676275" extrusionOk="0">
                <a:moveTo>
                  <a:pt x="38101" y="0"/>
                </a:moveTo>
                <a:lnTo>
                  <a:pt x="2314574" y="0"/>
                </a:lnTo>
                <a:cubicBezTo>
                  <a:pt x="2335616" y="0"/>
                  <a:pt x="2352675" y="17059"/>
                  <a:pt x="2352675" y="38101"/>
                </a:cubicBezTo>
                <a:lnTo>
                  <a:pt x="2352675" y="638174"/>
                </a:lnTo>
                <a:cubicBezTo>
                  <a:pt x="2352675" y="659216"/>
                  <a:pt x="2335616" y="676275"/>
                  <a:pt x="2314574" y="676275"/>
                </a:cubicBezTo>
                <a:lnTo>
                  <a:pt x="38101" y="676275"/>
                </a:lnTo>
                <a:cubicBezTo>
                  <a:pt x="17059" y="676275"/>
                  <a:pt x="0" y="659216"/>
                  <a:pt x="0" y="63817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734175" y="4743450"/>
            <a:ext cx="21717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CNN Layers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734175" y="4886325"/>
            <a:ext cx="22288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9091613" y="4624388"/>
            <a:ext cx="2352675" cy="676275"/>
          </a:xfrm>
          <a:custGeom>
            <a:avLst/>
            <a:gdLst/>
            <a:ahLst/>
            <a:cxnLst/>
            <a:rect l="l" t="t" r="r" b="b"/>
            <a:pathLst>
              <a:path w="2352675" h="676275" extrusionOk="0">
                <a:moveTo>
                  <a:pt x="38101" y="0"/>
                </a:moveTo>
                <a:lnTo>
                  <a:pt x="2314574" y="0"/>
                </a:lnTo>
                <a:cubicBezTo>
                  <a:pt x="2335616" y="0"/>
                  <a:pt x="2352675" y="17059"/>
                  <a:pt x="2352675" y="38101"/>
                </a:cubicBezTo>
                <a:lnTo>
                  <a:pt x="2352675" y="638174"/>
                </a:lnTo>
                <a:cubicBezTo>
                  <a:pt x="2352675" y="659216"/>
                  <a:pt x="2335616" y="676275"/>
                  <a:pt x="2314574" y="676275"/>
                </a:cubicBezTo>
                <a:lnTo>
                  <a:pt x="38101" y="676275"/>
                </a:lnTo>
                <a:cubicBezTo>
                  <a:pt x="17059" y="676275"/>
                  <a:pt x="0" y="659216"/>
                  <a:pt x="0" y="63817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9210675" y="4743450"/>
            <a:ext cx="21717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GRU Layers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210675" y="4886325"/>
            <a:ext cx="22288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610350" y="5419725"/>
            <a:ext cx="4905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Selection Criteria:</a:t>
            </a:r>
            <a:r>
              <a:rPr lang="en-US" sz="105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Highest validation MCC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328888" y="370578"/>
            <a:ext cx="453957" cy="370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852328" y="370578"/>
            <a:ext cx="3909593" cy="370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6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Results and Performance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70578" y="1000559"/>
            <a:ext cx="11450845" cy="2927562"/>
          </a:xfrm>
          <a:custGeom>
            <a:avLst/>
            <a:gdLst/>
            <a:ahLst/>
            <a:cxnLst/>
            <a:rect l="l" t="t" r="r" b="b"/>
            <a:pathLst>
              <a:path w="11450845" h="2927562" extrusionOk="0">
                <a:moveTo>
                  <a:pt x="74126" y="0"/>
                </a:moveTo>
                <a:lnTo>
                  <a:pt x="11376719" y="0"/>
                </a:lnTo>
                <a:cubicBezTo>
                  <a:pt x="11417658" y="0"/>
                  <a:pt x="11450845" y="33187"/>
                  <a:pt x="11450845" y="74126"/>
                </a:cubicBezTo>
                <a:lnTo>
                  <a:pt x="11450845" y="2853436"/>
                </a:lnTo>
                <a:cubicBezTo>
                  <a:pt x="11450845" y="2894375"/>
                  <a:pt x="11417658" y="2927562"/>
                  <a:pt x="11376719" y="2927562"/>
                </a:cubicBezTo>
                <a:lnTo>
                  <a:pt x="74126" y="2927562"/>
                </a:lnTo>
                <a:cubicBezTo>
                  <a:pt x="33187" y="2927562"/>
                  <a:pt x="0" y="2894375"/>
                  <a:pt x="0" y="2853436"/>
                </a:cubicBezTo>
                <a:lnTo>
                  <a:pt x="0" y="74126"/>
                </a:lnTo>
                <a:cubicBezTo>
                  <a:pt x="0" y="33215"/>
                  <a:pt x="33215" y="0"/>
                  <a:pt x="74126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292433" y="1204377"/>
            <a:ext cx="3602937" cy="185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1" b="1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FIGURE 3: MODEL PERFORMANCE COMPARISON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78596" y="4113410"/>
            <a:ext cx="5614249" cy="2742274"/>
          </a:xfrm>
          <a:custGeom>
            <a:avLst/>
            <a:gdLst/>
            <a:ahLst/>
            <a:cxnLst/>
            <a:rect l="l" t="t" r="r" b="b"/>
            <a:pathLst>
              <a:path w="5614249" h="2742274" extrusionOk="0">
                <a:moveTo>
                  <a:pt x="0" y="0"/>
                </a:moveTo>
                <a:lnTo>
                  <a:pt x="5540126" y="0"/>
                </a:lnTo>
                <a:cubicBezTo>
                  <a:pt x="5581063" y="0"/>
                  <a:pt x="5614249" y="33186"/>
                  <a:pt x="5614249" y="74124"/>
                </a:cubicBezTo>
                <a:lnTo>
                  <a:pt x="5614249" y="2668150"/>
                </a:lnTo>
                <a:cubicBezTo>
                  <a:pt x="5614249" y="2709087"/>
                  <a:pt x="5581063" y="2742274"/>
                  <a:pt x="5540126" y="2742274"/>
                </a:cubicBezTo>
                <a:lnTo>
                  <a:pt x="0" y="27422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89106" y="4113410"/>
            <a:ext cx="37058" cy="2742274"/>
          </a:xfrm>
          <a:custGeom>
            <a:avLst/>
            <a:gdLst/>
            <a:ahLst/>
            <a:cxnLst/>
            <a:rect l="l" t="t" r="r" b="b"/>
            <a:pathLst>
              <a:path w="37058" h="2742274" extrusionOk="0">
                <a:moveTo>
                  <a:pt x="0" y="0"/>
                </a:moveTo>
                <a:lnTo>
                  <a:pt x="37058" y="0"/>
                </a:lnTo>
                <a:lnTo>
                  <a:pt x="37058" y="2742274"/>
                </a:lnTo>
                <a:lnTo>
                  <a:pt x="0" y="274227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16085" y="4335757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 extrusionOk="0">
                <a:moveTo>
                  <a:pt x="52221" y="0"/>
                </a:moveTo>
                <a:lnTo>
                  <a:pt x="133285" y="0"/>
                </a:lnTo>
                <a:cubicBezTo>
                  <a:pt x="142875" y="0"/>
                  <a:pt x="150692" y="7889"/>
                  <a:pt x="150330" y="17443"/>
                </a:cubicBezTo>
                <a:cubicBezTo>
                  <a:pt x="150258" y="19361"/>
                  <a:pt x="150185" y="21279"/>
                  <a:pt x="150077" y="23161"/>
                </a:cubicBezTo>
                <a:lnTo>
                  <a:pt x="168027" y="23161"/>
                </a:lnTo>
                <a:cubicBezTo>
                  <a:pt x="177472" y="23161"/>
                  <a:pt x="185795" y="30978"/>
                  <a:pt x="185072" y="41183"/>
                </a:cubicBezTo>
                <a:cubicBezTo>
                  <a:pt x="182357" y="78712"/>
                  <a:pt x="163177" y="99339"/>
                  <a:pt x="142368" y="110124"/>
                </a:cubicBezTo>
                <a:cubicBezTo>
                  <a:pt x="136650" y="113091"/>
                  <a:pt x="130824" y="115299"/>
                  <a:pt x="125287" y="116927"/>
                </a:cubicBezTo>
                <a:cubicBezTo>
                  <a:pt x="117977" y="127277"/>
                  <a:pt x="110377" y="132742"/>
                  <a:pt x="104333" y="135673"/>
                </a:cubicBezTo>
                <a:lnTo>
                  <a:pt x="104333" y="162128"/>
                </a:lnTo>
                <a:lnTo>
                  <a:pt x="127495" y="162128"/>
                </a:lnTo>
                <a:cubicBezTo>
                  <a:pt x="133900" y="162128"/>
                  <a:pt x="139075" y="167303"/>
                  <a:pt x="139075" y="173708"/>
                </a:cubicBezTo>
                <a:cubicBezTo>
                  <a:pt x="139075" y="180114"/>
                  <a:pt x="133900" y="185289"/>
                  <a:pt x="127495" y="185289"/>
                </a:cubicBezTo>
                <a:lnTo>
                  <a:pt x="58011" y="185289"/>
                </a:lnTo>
                <a:cubicBezTo>
                  <a:pt x="51606" y="185289"/>
                  <a:pt x="46431" y="180114"/>
                  <a:pt x="46431" y="173708"/>
                </a:cubicBezTo>
                <a:cubicBezTo>
                  <a:pt x="46431" y="167303"/>
                  <a:pt x="51606" y="162128"/>
                  <a:pt x="58011" y="162128"/>
                </a:cubicBezTo>
                <a:lnTo>
                  <a:pt x="81172" y="162128"/>
                </a:lnTo>
                <a:lnTo>
                  <a:pt x="81172" y="135673"/>
                </a:lnTo>
                <a:cubicBezTo>
                  <a:pt x="75382" y="132887"/>
                  <a:pt x="68180" y="127712"/>
                  <a:pt x="61160" y="118194"/>
                </a:cubicBezTo>
                <a:cubicBezTo>
                  <a:pt x="54501" y="116457"/>
                  <a:pt x="47263" y="113815"/>
                  <a:pt x="40206" y="109834"/>
                </a:cubicBezTo>
                <a:cubicBezTo>
                  <a:pt x="20628" y="98869"/>
                  <a:pt x="2968" y="78205"/>
                  <a:pt x="434" y="41111"/>
                </a:cubicBezTo>
                <a:cubicBezTo>
                  <a:pt x="-253" y="30942"/>
                  <a:pt x="8034" y="23125"/>
                  <a:pt x="17479" y="23125"/>
                </a:cubicBezTo>
                <a:lnTo>
                  <a:pt x="35429" y="23125"/>
                </a:lnTo>
                <a:cubicBezTo>
                  <a:pt x="35321" y="21243"/>
                  <a:pt x="35248" y="19361"/>
                  <a:pt x="35176" y="17407"/>
                </a:cubicBezTo>
                <a:cubicBezTo>
                  <a:pt x="34814" y="7817"/>
                  <a:pt x="42631" y="-36"/>
                  <a:pt x="52221" y="-36"/>
                </a:cubicBezTo>
                <a:close/>
                <a:moveTo>
                  <a:pt x="36732" y="40532"/>
                </a:moveTo>
                <a:lnTo>
                  <a:pt x="17769" y="40532"/>
                </a:lnTo>
                <a:cubicBezTo>
                  <a:pt x="20013" y="71184"/>
                  <a:pt x="34090" y="86528"/>
                  <a:pt x="48602" y="94671"/>
                </a:cubicBezTo>
                <a:cubicBezTo>
                  <a:pt x="43391" y="81172"/>
                  <a:pt x="39084" y="63548"/>
                  <a:pt x="36732" y="40532"/>
                </a:cubicBezTo>
                <a:close/>
                <a:moveTo>
                  <a:pt x="137519" y="92934"/>
                </a:moveTo>
                <a:cubicBezTo>
                  <a:pt x="152176" y="84321"/>
                  <a:pt x="165421" y="69013"/>
                  <a:pt x="167665" y="40532"/>
                </a:cubicBezTo>
                <a:lnTo>
                  <a:pt x="148738" y="40532"/>
                </a:lnTo>
                <a:cubicBezTo>
                  <a:pt x="146494" y="62571"/>
                  <a:pt x="142441" y="79689"/>
                  <a:pt x="137519" y="92934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24535" y="4298699"/>
            <a:ext cx="5086176" cy="259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9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Key Findings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92924" y="4743392"/>
            <a:ext cx="138967" cy="22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29285" y="4706334"/>
            <a:ext cx="4252377" cy="22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CNN+GRU (2 conv + 2 GRU)</a:t>
            </a:r>
            <a:r>
              <a:rPr lang="en-US" sz="1167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achieved highest validation MCC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92924" y="5113970"/>
            <a:ext cx="138967" cy="22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29285" y="5076912"/>
            <a:ext cx="4020766" cy="22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ProtMamba embeddings</a:t>
            </a:r>
            <a:r>
              <a:rPr lang="en-US" sz="1167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provide rich contextual information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92924" y="5484547"/>
            <a:ext cx="138967" cy="22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29285" y="5447489"/>
            <a:ext cx="3344462" cy="22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Frozen feature extraction</a:t>
            </a:r>
            <a:r>
              <a:rPr lang="en-US" sz="1167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enables efficient training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223676" y="4113410"/>
            <a:ext cx="5595720" cy="2742274"/>
          </a:xfrm>
          <a:custGeom>
            <a:avLst/>
            <a:gdLst/>
            <a:ahLst/>
            <a:cxnLst/>
            <a:rect l="l" t="t" r="r" b="b"/>
            <a:pathLst>
              <a:path w="5595720" h="2742274" extrusionOk="0">
                <a:moveTo>
                  <a:pt x="74124" y="0"/>
                </a:moveTo>
                <a:lnTo>
                  <a:pt x="5521597" y="0"/>
                </a:lnTo>
                <a:cubicBezTo>
                  <a:pt x="5562534" y="0"/>
                  <a:pt x="5595720" y="33186"/>
                  <a:pt x="5595720" y="74124"/>
                </a:cubicBezTo>
                <a:lnTo>
                  <a:pt x="5595720" y="2668150"/>
                </a:lnTo>
                <a:cubicBezTo>
                  <a:pt x="5595720" y="2709087"/>
                  <a:pt x="5562534" y="2742274"/>
                  <a:pt x="5521597" y="2742274"/>
                </a:cubicBezTo>
                <a:lnTo>
                  <a:pt x="74124" y="2742274"/>
                </a:lnTo>
                <a:cubicBezTo>
                  <a:pt x="33186" y="2742274"/>
                  <a:pt x="0" y="2709087"/>
                  <a:pt x="0" y="2668150"/>
                </a:cubicBezTo>
                <a:lnTo>
                  <a:pt x="0" y="74124"/>
                </a:lnTo>
                <a:cubicBezTo>
                  <a:pt x="0" y="33214"/>
                  <a:pt x="33214" y="0"/>
                  <a:pt x="74124" y="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432125" y="4335757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 extrusionOk="0">
                <a:moveTo>
                  <a:pt x="23161" y="23161"/>
                </a:moveTo>
                <a:cubicBezTo>
                  <a:pt x="23161" y="16756"/>
                  <a:pt x="17986" y="11581"/>
                  <a:pt x="11581" y="11581"/>
                </a:cubicBezTo>
                <a:cubicBezTo>
                  <a:pt x="5175" y="11581"/>
                  <a:pt x="0" y="16756"/>
                  <a:pt x="0" y="23161"/>
                </a:cubicBezTo>
                <a:lnTo>
                  <a:pt x="0" y="144757"/>
                </a:lnTo>
                <a:cubicBezTo>
                  <a:pt x="0" y="160752"/>
                  <a:pt x="12956" y="173708"/>
                  <a:pt x="28951" y="173708"/>
                </a:cubicBezTo>
                <a:lnTo>
                  <a:pt x="173708" y="173708"/>
                </a:lnTo>
                <a:cubicBezTo>
                  <a:pt x="180114" y="173708"/>
                  <a:pt x="185289" y="168533"/>
                  <a:pt x="185289" y="162128"/>
                </a:cubicBezTo>
                <a:cubicBezTo>
                  <a:pt x="185289" y="155722"/>
                  <a:pt x="180114" y="150547"/>
                  <a:pt x="173708" y="150547"/>
                </a:cubicBezTo>
                <a:lnTo>
                  <a:pt x="28951" y="150547"/>
                </a:lnTo>
                <a:cubicBezTo>
                  <a:pt x="25767" y="150547"/>
                  <a:pt x="23161" y="147941"/>
                  <a:pt x="23161" y="144757"/>
                </a:cubicBezTo>
                <a:lnTo>
                  <a:pt x="23161" y="23161"/>
                </a:lnTo>
                <a:close/>
                <a:moveTo>
                  <a:pt x="170306" y="54501"/>
                </a:moveTo>
                <a:cubicBezTo>
                  <a:pt x="174830" y="49977"/>
                  <a:pt x="174830" y="42631"/>
                  <a:pt x="170306" y="38107"/>
                </a:cubicBezTo>
                <a:cubicBezTo>
                  <a:pt x="165783" y="33584"/>
                  <a:pt x="158436" y="33584"/>
                  <a:pt x="153913" y="38107"/>
                </a:cubicBezTo>
                <a:lnTo>
                  <a:pt x="115805" y="76251"/>
                </a:lnTo>
                <a:lnTo>
                  <a:pt x="95033" y="55514"/>
                </a:lnTo>
                <a:cubicBezTo>
                  <a:pt x="90509" y="50991"/>
                  <a:pt x="83163" y="50991"/>
                  <a:pt x="78639" y="55514"/>
                </a:cubicBezTo>
                <a:lnTo>
                  <a:pt x="43898" y="90256"/>
                </a:lnTo>
                <a:cubicBezTo>
                  <a:pt x="39374" y="94780"/>
                  <a:pt x="39374" y="102126"/>
                  <a:pt x="43898" y="106650"/>
                </a:cubicBezTo>
                <a:cubicBezTo>
                  <a:pt x="48421" y="111173"/>
                  <a:pt x="55768" y="111173"/>
                  <a:pt x="60291" y="106650"/>
                </a:cubicBezTo>
                <a:lnTo>
                  <a:pt x="86854" y="80087"/>
                </a:lnTo>
                <a:lnTo>
                  <a:pt x="107627" y="100859"/>
                </a:lnTo>
                <a:cubicBezTo>
                  <a:pt x="112150" y="105383"/>
                  <a:pt x="119497" y="105383"/>
                  <a:pt x="124020" y="100859"/>
                </a:cubicBezTo>
                <a:lnTo>
                  <a:pt x="170343" y="545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640575" y="4298699"/>
            <a:ext cx="5086176" cy="259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9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Performance Metrics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408964" y="4706334"/>
            <a:ext cx="2556985" cy="778213"/>
          </a:xfrm>
          <a:custGeom>
            <a:avLst/>
            <a:gdLst/>
            <a:ahLst/>
            <a:cxnLst/>
            <a:rect l="l" t="t" r="r" b="b"/>
            <a:pathLst>
              <a:path w="2556985" h="778213" extrusionOk="0">
                <a:moveTo>
                  <a:pt x="74117" y="0"/>
                </a:moveTo>
                <a:lnTo>
                  <a:pt x="2482868" y="0"/>
                </a:lnTo>
                <a:cubicBezTo>
                  <a:pt x="2523801" y="0"/>
                  <a:pt x="2556985" y="33183"/>
                  <a:pt x="2556985" y="74117"/>
                </a:cubicBezTo>
                <a:lnTo>
                  <a:pt x="2556985" y="704096"/>
                </a:lnTo>
                <a:cubicBezTo>
                  <a:pt x="2556985" y="745029"/>
                  <a:pt x="2523801" y="778213"/>
                  <a:pt x="2482868" y="778213"/>
                </a:cubicBezTo>
                <a:lnTo>
                  <a:pt x="74117" y="778213"/>
                </a:lnTo>
                <a:cubicBezTo>
                  <a:pt x="33183" y="778213"/>
                  <a:pt x="0" y="745029"/>
                  <a:pt x="0" y="70409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450654" y="4817508"/>
            <a:ext cx="2473605" cy="3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0.52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487712" y="5188085"/>
            <a:ext cx="2399489" cy="185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MCC (Validation)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076109" y="4706334"/>
            <a:ext cx="2556985" cy="778213"/>
          </a:xfrm>
          <a:custGeom>
            <a:avLst/>
            <a:gdLst/>
            <a:ahLst/>
            <a:cxnLst/>
            <a:rect l="l" t="t" r="r" b="b"/>
            <a:pathLst>
              <a:path w="2556985" h="778213" extrusionOk="0">
                <a:moveTo>
                  <a:pt x="74117" y="0"/>
                </a:moveTo>
                <a:lnTo>
                  <a:pt x="2482868" y="0"/>
                </a:lnTo>
                <a:cubicBezTo>
                  <a:pt x="2523801" y="0"/>
                  <a:pt x="2556985" y="33183"/>
                  <a:pt x="2556985" y="74117"/>
                </a:cubicBezTo>
                <a:lnTo>
                  <a:pt x="2556985" y="704096"/>
                </a:lnTo>
                <a:cubicBezTo>
                  <a:pt x="2556985" y="745029"/>
                  <a:pt x="2523801" y="778213"/>
                  <a:pt x="2482868" y="778213"/>
                </a:cubicBezTo>
                <a:lnTo>
                  <a:pt x="74117" y="778213"/>
                </a:lnTo>
                <a:cubicBezTo>
                  <a:pt x="33183" y="778213"/>
                  <a:pt x="0" y="745029"/>
                  <a:pt x="0" y="70409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117799" y="4817508"/>
            <a:ext cx="2473605" cy="3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72%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9154857" y="5188085"/>
            <a:ext cx="2399489" cy="185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Accuracy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408964" y="5595720"/>
            <a:ext cx="2556985" cy="778213"/>
          </a:xfrm>
          <a:custGeom>
            <a:avLst/>
            <a:gdLst/>
            <a:ahLst/>
            <a:cxnLst/>
            <a:rect l="l" t="t" r="r" b="b"/>
            <a:pathLst>
              <a:path w="2556985" h="778213" extrusionOk="0">
                <a:moveTo>
                  <a:pt x="74117" y="0"/>
                </a:moveTo>
                <a:lnTo>
                  <a:pt x="2482868" y="0"/>
                </a:lnTo>
                <a:cubicBezTo>
                  <a:pt x="2523801" y="0"/>
                  <a:pt x="2556985" y="33183"/>
                  <a:pt x="2556985" y="74117"/>
                </a:cubicBezTo>
                <a:lnTo>
                  <a:pt x="2556985" y="704096"/>
                </a:lnTo>
                <a:cubicBezTo>
                  <a:pt x="2556985" y="745029"/>
                  <a:pt x="2523801" y="778213"/>
                  <a:pt x="2482868" y="778213"/>
                </a:cubicBezTo>
                <a:lnTo>
                  <a:pt x="74117" y="778213"/>
                </a:lnTo>
                <a:cubicBezTo>
                  <a:pt x="33183" y="778213"/>
                  <a:pt x="0" y="745029"/>
                  <a:pt x="0" y="70409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450654" y="5706894"/>
            <a:ext cx="2473605" cy="3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72%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487712" y="6077471"/>
            <a:ext cx="2399489" cy="185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Precision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9076109" y="5595720"/>
            <a:ext cx="2556985" cy="778213"/>
          </a:xfrm>
          <a:custGeom>
            <a:avLst/>
            <a:gdLst/>
            <a:ahLst/>
            <a:cxnLst/>
            <a:rect l="l" t="t" r="r" b="b"/>
            <a:pathLst>
              <a:path w="2556985" h="778213" extrusionOk="0">
                <a:moveTo>
                  <a:pt x="74117" y="0"/>
                </a:moveTo>
                <a:lnTo>
                  <a:pt x="2482868" y="0"/>
                </a:lnTo>
                <a:cubicBezTo>
                  <a:pt x="2523801" y="0"/>
                  <a:pt x="2556985" y="33183"/>
                  <a:pt x="2556985" y="74117"/>
                </a:cubicBezTo>
                <a:lnTo>
                  <a:pt x="2556985" y="704096"/>
                </a:lnTo>
                <a:cubicBezTo>
                  <a:pt x="2556985" y="745029"/>
                  <a:pt x="2523801" y="778213"/>
                  <a:pt x="2482868" y="778213"/>
                </a:cubicBezTo>
                <a:lnTo>
                  <a:pt x="74117" y="778213"/>
                </a:lnTo>
                <a:cubicBezTo>
                  <a:pt x="33183" y="778213"/>
                  <a:pt x="0" y="745029"/>
                  <a:pt x="0" y="70409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9117799" y="5706894"/>
            <a:ext cx="2473605" cy="3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 b="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68%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9154857" y="6077471"/>
            <a:ext cx="2399489" cy="185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1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Recall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8" descr="A graph of a graph with a red ba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9748" y="1500838"/>
            <a:ext cx="9472504" cy="2265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381000" y="381000"/>
            <a:ext cx="11430000" cy="76200"/>
          </a:xfrm>
          <a:custGeom>
            <a:avLst/>
            <a:gdLst/>
            <a:ahLst/>
            <a:cxnLst/>
            <a:rect l="l" t="t" r="r" b="b"/>
            <a:pathLst>
              <a:path w="11430000" h="76200" extrusionOk="0">
                <a:moveTo>
                  <a:pt x="0" y="0"/>
                </a:moveTo>
                <a:lnTo>
                  <a:pt x="11430000" y="0"/>
                </a:lnTo>
                <a:lnTo>
                  <a:pt x="11430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9" descr="preencoded.png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>
            <a:off x="8153400" y="2819400"/>
            <a:ext cx="3657600" cy="3657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93" name="Google Shape;193;p9"/>
          <p:cNvSpPr/>
          <p:nvPr/>
        </p:nvSpPr>
        <p:spPr>
          <a:xfrm>
            <a:off x="5710089" y="1514475"/>
            <a:ext cx="771525" cy="685800"/>
          </a:xfrm>
          <a:custGeom>
            <a:avLst/>
            <a:gdLst/>
            <a:ahLst/>
            <a:cxnLst/>
            <a:rect l="l" t="t" r="r" b="b"/>
            <a:pathLst>
              <a:path w="771525" h="685800" extrusionOk="0">
                <a:moveTo>
                  <a:pt x="514350" y="192881"/>
                </a:moveTo>
                <a:cubicBezTo>
                  <a:pt x="514350" y="323076"/>
                  <a:pt x="399157" y="428625"/>
                  <a:pt x="257175" y="428625"/>
                </a:cubicBezTo>
                <a:cubicBezTo>
                  <a:pt x="221412" y="428625"/>
                  <a:pt x="187389" y="421928"/>
                  <a:pt x="156448" y="409873"/>
                </a:cubicBezTo>
                <a:lnTo>
                  <a:pt x="47149" y="467737"/>
                </a:lnTo>
                <a:cubicBezTo>
                  <a:pt x="34692" y="474300"/>
                  <a:pt x="19422" y="472023"/>
                  <a:pt x="9376" y="462111"/>
                </a:cubicBezTo>
                <a:cubicBezTo>
                  <a:pt x="-670" y="452199"/>
                  <a:pt x="-2947" y="436796"/>
                  <a:pt x="3750" y="424339"/>
                </a:cubicBezTo>
                <a:lnTo>
                  <a:pt x="51435" y="334328"/>
                </a:lnTo>
                <a:cubicBezTo>
                  <a:pt x="19154" y="294948"/>
                  <a:pt x="0" y="245924"/>
                  <a:pt x="0" y="192881"/>
                </a:cubicBezTo>
                <a:cubicBezTo>
                  <a:pt x="0" y="62686"/>
                  <a:pt x="115193" y="-42862"/>
                  <a:pt x="257175" y="-42862"/>
                </a:cubicBezTo>
                <a:cubicBezTo>
                  <a:pt x="399157" y="-42862"/>
                  <a:pt x="514350" y="62686"/>
                  <a:pt x="514350" y="192881"/>
                </a:cubicBezTo>
                <a:close/>
                <a:moveTo>
                  <a:pt x="514350" y="685800"/>
                </a:moveTo>
                <a:cubicBezTo>
                  <a:pt x="388307" y="685800"/>
                  <a:pt x="283428" y="602620"/>
                  <a:pt x="261461" y="492919"/>
                </a:cubicBezTo>
                <a:cubicBezTo>
                  <a:pt x="422196" y="490910"/>
                  <a:pt x="561901" y="376520"/>
                  <a:pt x="577304" y="221412"/>
                </a:cubicBezTo>
                <a:cubicBezTo>
                  <a:pt x="688881" y="247129"/>
                  <a:pt x="771525" y="339685"/>
                  <a:pt x="771525" y="450056"/>
                </a:cubicBezTo>
                <a:cubicBezTo>
                  <a:pt x="771525" y="503099"/>
                  <a:pt x="752371" y="552123"/>
                  <a:pt x="720090" y="591503"/>
                </a:cubicBezTo>
                <a:lnTo>
                  <a:pt x="767775" y="681514"/>
                </a:lnTo>
                <a:cubicBezTo>
                  <a:pt x="774338" y="693971"/>
                  <a:pt x="772061" y="709240"/>
                  <a:pt x="762149" y="719286"/>
                </a:cubicBezTo>
                <a:cubicBezTo>
                  <a:pt x="752237" y="729332"/>
                  <a:pt x="736833" y="731609"/>
                  <a:pt x="724376" y="724912"/>
                </a:cubicBezTo>
                <a:lnTo>
                  <a:pt x="615077" y="667048"/>
                </a:lnTo>
                <a:cubicBezTo>
                  <a:pt x="584136" y="679103"/>
                  <a:pt x="550113" y="685800"/>
                  <a:pt x="514350" y="68580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299371" y="2733675"/>
            <a:ext cx="55911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Questions?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486251" y="35337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 extrusionOk="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C2DC15-4939-4848-A522-2ACE7FFD4A12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931</Words>
  <Application>Microsoft Macintosh PowerPoint</Application>
  <PresentationFormat>Widescreen</PresentationFormat>
  <Paragraphs>129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Sorts Mill Goudy</vt:lpstr>
      <vt:lpstr>Arial</vt:lpstr>
      <vt:lpstr>Calibri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 Chauhan (RIT Student)</cp:lastModifiedBy>
  <cp:revision>2</cp:revision>
  <dcterms:modified xsi:type="dcterms:W3CDTF">2026-03-16T18:33:14Z</dcterms:modified>
</cp:coreProperties>
</file>