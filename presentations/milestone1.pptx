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83893"/>
  </p:normalViewPr>
  <p:slideViewPr>
    <p:cSldViewPr snapToGrid="0">
      <p:cViewPr varScale="1">
        <p:scale>
          <a:sx n="108" d="100"/>
          <a:sy n="108" d="100"/>
        </p:scale>
        <p:origin x="76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3FF2FB-FF20-6247-BC19-6E7B276A7CCB}" type="datetimeFigureOut">
              <a:rPr lang="en-US" smtClean="0"/>
              <a:t>2/9/26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017AEB-3EC1-CA4F-BDA6-17E2BD6EBA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088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English characters -&gt; 26 characters.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Protein sequence -&gt; 20 residues / amino-acids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“PTMs are small chemical changes on specific residues, like adding a tag that changes how the protein behaves.”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each amino acid in a protein, we predict whether that residue is modified or not.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017AEB-3EC1-CA4F-BDA6-17E2BD6EBA1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3719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more than 500 PTMs and I will be working with 5 PTMs. </a:t>
            </a:r>
            <a:br>
              <a:rPr lang="en-US" dirty="0"/>
            </a:br>
            <a:r>
              <a:rPr lang="en-US" dirty="0"/>
              <a:t>For milestone 1 I have treated each PTM type independently to establish benchmark for our models.</a:t>
            </a:r>
          </a:p>
          <a:p>
            <a:endParaRPr lang="en-US" dirty="0"/>
          </a:p>
          <a:p>
            <a:r>
              <a:rPr lang="en-US" dirty="0"/>
              <a:t>As you see there is class Imbalance, so focus more on Precision-Recall curve and MCC  as our evaluation metric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017AEB-3EC1-CA4F-BDA6-17E2BD6EBA1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2719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UniProt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ID does not correspond to one sample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it corresponds to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samples.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generate multiple windows per protein by sliding across residues. Each window shares the same global protein context, but differs locally depending on where the center residue sits.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017AEB-3EC1-CA4F-BDA6-17E2BD6EBA1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2492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protein has a unique identifier, name </a:t>
            </a:r>
            <a:r>
              <a:rPr lang="en-US" dirty="0" err="1"/>
              <a:t>UniProt_ID</a:t>
            </a:r>
            <a:endParaRPr lang="en-US" dirty="0"/>
          </a:p>
          <a:p>
            <a:r>
              <a:rPr lang="en-US" dirty="0" err="1"/>
              <a:t>UniProt</a:t>
            </a:r>
            <a:r>
              <a:rPr lang="en-US" dirty="0"/>
              <a:t> lists around 100 features for each protein, but not all contribute towards modifications. </a:t>
            </a:r>
          </a:p>
          <a:p>
            <a:r>
              <a:rPr lang="en-US" dirty="0"/>
              <a:t>I have selected 12 for our baseline model. Why these 12  ? </a:t>
            </a:r>
          </a:p>
          <a:p>
            <a:r>
              <a:rPr lang="en-US" dirty="0"/>
              <a:t>Prof Dukka is my advisor who is working in this field for many years, and suggested to go ahead with these 12.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017AEB-3EC1-CA4F-BDA6-17E2BD6EBA1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7693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 window is represented into a 21 symbol one hot encoding, with our 11 extra numerical features. Taking our total input vector size to 1502.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itself is a standard 3-layer MLP.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use Binary Cross Entropy with a calculated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pos_weight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This is our primary mechanism for handling the 1:5 class imbalance we saw earlier—it forces the model to pay attention to the rare positive class during gradient descent.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017AEB-3EC1-CA4F-BDA6-17E2BD6EBA1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9359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Finally, I ran a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Hyperparameter Search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 a sweep of 240 configurations across all PTMs. 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have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likely hit the capacity limit of this local, fixed-window representation. Further hyperparameter tuning yields diminishing returns.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Now, To improve substantially in Milestone 2, I will be changing the architecture to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ProtMAMBA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capture long-range dependencies, rather than just tuning this MLP."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017AEB-3EC1-CA4F-BDA6-17E2BD6EBA1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3097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017AEB-3EC1-CA4F-BDA6-17E2BD6EBA1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6782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E6C53-4D9D-17A6-B370-23A34B7980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ACE715-3028-A909-5178-7ED3F17EC7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3EEE6-4C86-B9B0-B031-6C7BAF94E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82A69-CB44-204B-AF84-51D51C5C1DFA}" type="datetimeFigureOut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7E1089-0E51-31A9-1633-AC8F9441F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159935-A047-F56C-14AB-3EFB326FF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16E34-668E-BB41-82E5-2774F8B7AF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722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EF8F1-FC66-BBC2-7171-C6C9A6D81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15F096-8EDD-5EE1-7C89-5D4282294E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CF672E-BB9A-BEAC-3094-A5145A141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82A69-CB44-204B-AF84-51D51C5C1DFA}" type="datetimeFigureOut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FFBC5-E55E-A778-C7D1-B54BB5D87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0567EA-96CB-26F9-6ADB-BA06BC9EE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16E34-668E-BB41-82E5-2774F8B7AF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7582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25E3E-C506-0C58-9E1B-75D27BAC8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A7E9AB-4BCD-FF98-CC00-854031293B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4A308C-4C07-2F5D-7CF0-489FAB008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82A69-CB44-204B-AF84-51D51C5C1DFA}" type="datetimeFigureOut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7683EB-7E88-C6C5-60E3-3555DF582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FF85D9-741D-43FB-C795-15EA5F558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16E34-668E-BB41-82E5-2774F8B7AF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646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E4C7B-2662-A41B-5B40-D7BEDEA7B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7914B-4A01-DAA2-0932-F252F66646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7AB58E-81CC-97B9-5E0B-849B026490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8F6D95-0C9D-D406-315A-35B801549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82A69-CB44-204B-AF84-51D51C5C1DFA}" type="datetimeFigureOut">
              <a:rPr lang="en-US" smtClean="0"/>
              <a:t>2/8/26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C82358-4B53-8457-E2BB-FC839A13E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A393FE-82F7-58B5-8F61-739460F29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16E34-668E-BB41-82E5-2774F8B7AF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552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95F43-3620-CF1F-821C-4DB0FD32F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13D23E-6EC2-5E16-1956-E33EE7DA3B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0B2C58-85FB-DDBE-B37C-40848B7DF2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340FFC-48BA-8835-9AD5-CBC8FB385D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AB2426-D05E-1F38-FC33-F2C91421CE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C16142-9A4A-DE03-9502-3812D3AD2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82A69-CB44-204B-AF84-51D51C5C1DFA}" type="datetimeFigureOut">
              <a:rPr lang="en-US" smtClean="0"/>
              <a:t>2/8/26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C844C4-8481-3717-906F-C1463ED0C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55BBBA-51F5-8706-5C03-804FBB87C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16E34-668E-BB41-82E5-2774F8B7AF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311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B0290-7507-8A42-B5CE-976636960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1F5984-9F51-658F-94B7-74DA20BD6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82A69-CB44-204B-AF84-51D51C5C1DFA}" type="datetimeFigureOut">
              <a:rPr lang="en-US" smtClean="0"/>
              <a:t>2/8/26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A3F94C-45C2-7C50-023C-B34E05551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9AAA59-6A1B-7DEC-7B41-4B6DF159D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16E34-668E-BB41-82E5-2774F8B7AF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971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1F98D0-4893-751F-F05A-9C1610677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82A69-CB44-204B-AF84-51D51C5C1DFA}" type="datetimeFigureOut">
              <a:rPr lang="en-US" smtClean="0"/>
              <a:t>2/8/26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E39C9F-6305-98C5-A21C-6AE70B242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53C742-DC08-E360-E5B8-7AB9688E0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16E34-668E-BB41-82E5-2774F8B7AF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323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7855B-C8C3-1250-C666-3A0AE44AB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C866E-76D2-D902-23C2-C86FC2D148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ED0A8D-2A84-29D0-64EA-239029E31F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0E5321-8389-6ADE-9A09-A7399BCB0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82A69-CB44-204B-AF84-51D51C5C1DFA}" type="datetimeFigureOut">
              <a:rPr lang="en-US" smtClean="0"/>
              <a:t>2/8/26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74543B-FD88-6847-55E0-FBE884411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CD5F2D-8CF7-4EF8-4BB3-CDD0F8346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16E34-668E-BB41-82E5-2774F8B7AF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746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15A66-069D-1EA4-0B08-E2890243D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1E525B-05D9-9A50-ADB1-0D9AFF9BD7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1A5C4C-EC92-9F35-E5A2-B27B68ED18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730615-089F-217A-E783-168B5D0E2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82A69-CB44-204B-AF84-51D51C5C1DFA}" type="datetimeFigureOut">
              <a:rPr lang="en-US" smtClean="0"/>
              <a:t>2/8/26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2237F8-EC92-5B3F-C051-FC4FC749C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2DF0E4-6888-322E-0055-38686B46C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16E34-668E-BB41-82E5-2774F8B7AF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69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78BD3-8E12-4F11-3963-D1D827E65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050011-40F1-9AD5-13C9-204AE4C5A7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BBB71D-A43C-2C35-45AE-8CD6860EC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82A69-CB44-204B-AF84-51D51C5C1DFA}" type="datetimeFigureOut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E722D4-18CC-8B3F-9042-43B7C6DA0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5208D1-61E9-FC4A-ED2F-A578B24A2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16E34-668E-BB41-82E5-2774F8B7AF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059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C783CE-E48B-9462-E0B0-B438C79B37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9B8853-179D-38EB-20DA-D74946E6F6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5F9A23-336E-D8E3-717B-C0AF3219C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82A69-CB44-204B-AF84-51D51C5C1DFA}" type="datetimeFigureOut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34153D-4FF7-92A2-AEF1-AADE83ABA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8F85FA-4DEB-4846-1DEF-17A6C94B0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16E34-668E-BB41-82E5-2774F8B7AF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987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BC0B2F-DF97-04D1-A412-85C27F988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983E55-1830-2EEF-B73A-F7638E6401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06B94-85DA-4E5B-CA1A-657D52DE40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182A69-CB44-204B-AF84-51D51C5C1DFA}" type="datetimeFigureOut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09ED58-E5B2-2129-F96B-C4C4D2CC1B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2EEFE-98F2-8A46-C38F-41B3B54878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C16E34-668E-BB41-82E5-2774F8B7AF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495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4CCF8A-36D2-0EC9-E7E5-DC13CCDE78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PREDICTION OF PTM SITES USING ProtMAMBA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44772A-2AA4-52B1-8941-267A12332A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MILESTONE 1: DATA ANALYSIS AND ESTABILISHING BASELINE MODELS</a:t>
            </a:r>
            <a:endParaRPr lang="en-US"/>
          </a:p>
          <a:p>
            <a:pPr algn="l"/>
            <a:endParaRPr lang="en-US"/>
          </a:p>
          <a:p>
            <a:pPr algn="l"/>
            <a:r>
              <a:rPr lang="en-US" dirty="0"/>
              <a:t>-HARSH CHAUHAN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290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4064E7-3530-1508-77CB-21E3363A5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RECAP</a:t>
            </a:r>
          </a:p>
        </p:txBody>
      </p:sp>
      <p:pic>
        <p:nvPicPr>
          <p:cNvPr id="5" name="Content Placeholder 4" descr="A diagram of a dna model&#10;&#10;AI-generated content may be incorrect.">
            <a:extLst>
              <a:ext uri="{FF2B5EF4-FFF2-40B4-BE49-F238E27FC236}">
                <a16:creationId xmlns:a16="http://schemas.microsoft.com/office/drawing/2014/main" id="{44DD063F-09DE-F1A5-7E32-5696D82B8D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32225" y="1983501"/>
            <a:ext cx="11327549" cy="4417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022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FFB5B-B255-3BD3-C75B-5458A2E2A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DATASETS IN SCOPE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DCA6F34-D2A4-CF12-5179-2335230DAE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2408595"/>
              </p:ext>
            </p:extLst>
          </p:nvPr>
        </p:nvGraphicFramePr>
        <p:xfrm>
          <a:off x="661274" y="1867693"/>
          <a:ext cx="4394203" cy="3839424"/>
        </p:xfrm>
        <a:graphic>
          <a:graphicData uri="http://schemas.openxmlformats.org/drawingml/2006/table">
            <a:tbl>
              <a:tblPr/>
              <a:tblGrid>
                <a:gridCol w="1769821">
                  <a:extLst>
                    <a:ext uri="{9D8B030D-6E8A-4147-A177-3AD203B41FA5}">
                      <a16:colId xmlns:a16="http://schemas.microsoft.com/office/drawing/2014/main" val="205911217"/>
                    </a:ext>
                  </a:extLst>
                </a:gridCol>
                <a:gridCol w="1005788">
                  <a:extLst>
                    <a:ext uri="{9D8B030D-6E8A-4147-A177-3AD203B41FA5}">
                      <a16:colId xmlns:a16="http://schemas.microsoft.com/office/drawing/2014/main" val="437995854"/>
                    </a:ext>
                  </a:extLst>
                </a:gridCol>
                <a:gridCol w="1618594">
                  <a:extLst>
                    <a:ext uri="{9D8B030D-6E8A-4147-A177-3AD203B41FA5}">
                      <a16:colId xmlns:a16="http://schemas.microsoft.com/office/drawing/2014/main" val="7529670"/>
                    </a:ext>
                  </a:extLst>
                </a:gridCol>
              </a:tblGrid>
              <a:tr h="639904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Inter"/>
                        </a:rPr>
                        <a:t>Modification</a:t>
                      </a:r>
                      <a:endParaRPr lang="en-US" dirty="0">
                        <a:effectLst/>
                      </a:endParaRPr>
                    </a:p>
                  </a:txBody>
                  <a:tcPr marL="6667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Inter"/>
                        </a:rPr>
                        <a:t>Target Residue</a:t>
                      </a:r>
                      <a:endParaRPr lang="en-US" dirty="0">
                        <a:effectLst/>
                      </a:endParaRPr>
                    </a:p>
                  </a:txBody>
                  <a:tcPr marL="6667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Total samples</a:t>
                      </a:r>
                    </a:p>
                  </a:txBody>
                  <a:tcPr marL="6667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4619200"/>
                  </a:ext>
                </a:extLst>
              </a:tr>
              <a:tr h="639904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650" b="0" i="0" u="none" strike="noStrike" dirty="0">
                          <a:solidFill>
                            <a:srgbClr val="111827"/>
                          </a:solidFill>
                          <a:effectLst/>
                          <a:latin typeface="Inter"/>
                        </a:rPr>
                        <a:t>Acetylation</a:t>
                      </a:r>
                      <a:endParaRPr lang="en-US" dirty="0">
                        <a:effectLst/>
                      </a:endParaRPr>
                    </a:p>
                  </a:txBody>
                  <a:tcPr marL="6667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dirty="0">
                          <a:effectLst/>
                        </a:rPr>
                        <a:t>K</a:t>
                      </a:r>
                    </a:p>
                  </a:txBody>
                  <a:tcPr marL="6667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dirty="0">
                          <a:effectLst/>
                        </a:rPr>
                        <a:t>68859</a:t>
                      </a:r>
                    </a:p>
                  </a:txBody>
                  <a:tcPr marL="6667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1393626"/>
                  </a:ext>
                </a:extLst>
              </a:tr>
              <a:tr h="639904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650" b="0" i="0" u="none" strike="noStrike" dirty="0">
                          <a:solidFill>
                            <a:srgbClr val="111827"/>
                          </a:solidFill>
                          <a:effectLst/>
                          <a:latin typeface="Inter"/>
                        </a:rPr>
                        <a:t>Glycosylation</a:t>
                      </a:r>
                      <a:endParaRPr lang="en-US" dirty="0">
                        <a:effectLst/>
                      </a:endParaRPr>
                    </a:p>
                  </a:txBody>
                  <a:tcPr marL="6667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650" b="0" i="0" u="none" strike="noStrike" dirty="0">
                          <a:solidFill>
                            <a:srgbClr val="111827"/>
                          </a:solidFill>
                          <a:effectLst/>
                          <a:latin typeface="Inter"/>
                        </a:rPr>
                        <a:t>N</a:t>
                      </a:r>
                      <a:endParaRPr lang="en-US" dirty="0">
                        <a:effectLst/>
                      </a:endParaRPr>
                    </a:p>
                  </a:txBody>
                  <a:tcPr marL="6667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dirty="0">
                          <a:effectLst/>
                        </a:rPr>
                        <a:t>42256</a:t>
                      </a:r>
                    </a:p>
                  </a:txBody>
                  <a:tcPr marL="6667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4210203"/>
                  </a:ext>
                </a:extLst>
              </a:tr>
              <a:tr h="639904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650" b="0" i="0" u="none" strike="noStrike" dirty="0">
                          <a:solidFill>
                            <a:srgbClr val="111827"/>
                          </a:solidFill>
                          <a:effectLst/>
                          <a:latin typeface="Inter"/>
                        </a:rPr>
                        <a:t>Phosphorylation</a:t>
                      </a:r>
                      <a:endParaRPr lang="en-US" dirty="0">
                        <a:effectLst/>
                      </a:endParaRPr>
                    </a:p>
                  </a:txBody>
                  <a:tcPr marL="6667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650" b="0" i="0" u="none" strike="noStrike" dirty="0">
                          <a:solidFill>
                            <a:srgbClr val="111827"/>
                          </a:solidFill>
                          <a:effectLst/>
                          <a:latin typeface="Inter"/>
                        </a:rPr>
                        <a:t>Y</a:t>
                      </a:r>
                      <a:endParaRPr lang="en-US" dirty="0">
                        <a:effectLst/>
                      </a:endParaRPr>
                    </a:p>
                  </a:txBody>
                  <a:tcPr marL="6667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dirty="0">
                          <a:effectLst/>
                        </a:rPr>
                        <a:t>64535</a:t>
                      </a:r>
                    </a:p>
                  </a:txBody>
                  <a:tcPr marL="6667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0048637"/>
                  </a:ext>
                </a:extLst>
              </a:tr>
              <a:tr h="639904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650" b="0" i="0" u="none" strike="noStrike" dirty="0" err="1">
                          <a:solidFill>
                            <a:srgbClr val="111827"/>
                          </a:solidFill>
                          <a:effectLst/>
                          <a:latin typeface="Inter"/>
                        </a:rPr>
                        <a:t>Sumoylation</a:t>
                      </a:r>
                      <a:endParaRPr lang="en-US" dirty="0">
                        <a:effectLst/>
                      </a:endParaRPr>
                    </a:p>
                  </a:txBody>
                  <a:tcPr marL="6667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650" b="0" i="0" u="none" strike="noStrike" dirty="0">
                          <a:solidFill>
                            <a:srgbClr val="111827"/>
                          </a:solidFill>
                          <a:effectLst/>
                          <a:latin typeface="Inter"/>
                        </a:rPr>
                        <a:t>K</a:t>
                      </a:r>
                      <a:endParaRPr lang="en-US" dirty="0">
                        <a:effectLst/>
                      </a:endParaRPr>
                    </a:p>
                  </a:txBody>
                  <a:tcPr marL="6667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dirty="0">
                          <a:effectLst/>
                        </a:rPr>
                        <a:t>80068</a:t>
                      </a:r>
                    </a:p>
                  </a:txBody>
                  <a:tcPr marL="6667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345236"/>
                  </a:ext>
                </a:extLst>
              </a:tr>
              <a:tr h="639904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650" b="0" i="0" u="none" strike="noStrike" dirty="0">
                          <a:solidFill>
                            <a:srgbClr val="111827"/>
                          </a:solidFill>
                          <a:effectLst/>
                          <a:latin typeface="Inter"/>
                        </a:rPr>
                        <a:t>Crotonylation</a:t>
                      </a:r>
                      <a:endParaRPr lang="en-US" dirty="0">
                        <a:effectLst/>
                      </a:endParaRPr>
                    </a:p>
                  </a:txBody>
                  <a:tcPr marL="6667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650" b="0" i="0" u="none" strike="noStrike" dirty="0">
                          <a:solidFill>
                            <a:srgbClr val="111827"/>
                          </a:solidFill>
                          <a:effectLst/>
                          <a:latin typeface="Inter"/>
                        </a:rPr>
                        <a:t>K</a:t>
                      </a:r>
                      <a:endParaRPr lang="en-US" dirty="0">
                        <a:effectLst/>
                      </a:endParaRPr>
                    </a:p>
                  </a:txBody>
                  <a:tcPr marL="6667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dirty="0">
                          <a:effectLst/>
                        </a:rPr>
                        <a:t>24773</a:t>
                      </a:r>
                    </a:p>
                  </a:txBody>
                  <a:tcPr marL="6667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4407393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F1FDA7DE-4367-8F06-6319-B10DED5A94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418896" y="-178676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79F2B01-6FA6-187E-945B-AF9544A18C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0043"/>
          <a:stretch>
            <a:fillRect/>
          </a:stretch>
        </p:blipFill>
        <p:spPr>
          <a:xfrm>
            <a:off x="5524937" y="2448426"/>
            <a:ext cx="5828863" cy="4319789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026DDB8-2AD5-5253-3EA7-1C3BB185F8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3215948"/>
              </p:ext>
            </p:extLst>
          </p:nvPr>
        </p:nvGraphicFramePr>
        <p:xfrm>
          <a:off x="6684578" y="1027906"/>
          <a:ext cx="379073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5366">
                  <a:extLst>
                    <a:ext uri="{9D8B030D-6E8A-4147-A177-3AD203B41FA5}">
                      <a16:colId xmlns:a16="http://schemas.microsoft.com/office/drawing/2014/main" val="3386934206"/>
                    </a:ext>
                  </a:extLst>
                </a:gridCol>
                <a:gridCol w="1895366">
                  <a:extLst>
                    <a:ext uri="{9D8B030D-6E8A-4147-A177-3AD203B41FA5}">
                      <a16:colId xmlns:a16="http://schemas.microsoft.com/office/drawing/2014/main" val="42323640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4438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Negative PTMs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193,462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10180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Positive PTMs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87,030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66823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0747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85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2B3290A-D3BF-4B87-B55B-FD9A98B49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33A715A-0686-440A-8F40-441B42A66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761657F-19F2-425B-B7E9-0118CD13C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27B6634-79D3-4EDD-A77A-1065D6F3A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3D563B2-3989-DDF1-21C1-870F04EAA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8" y="319314"/>
            <a:ext cx="9477377" cy="1030515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WINDOW/SEQUENCE CHARACTERISTICS</a:t>
            </a:r>
          </a:p>
        </p:txBody>
      </p:sp>
      <p:pic>
        <p:nvPicPr>
          <p:cNvPr id="9" name="Picture 8" descr="A graph with a line and a blue line&#10;&#10;AI-generated content may be incorrect.">
            <a:extLst>
              <a:ext uri="{FF2B5EF4-FFF2-40B4-BE49-F238E27FC236}">
                <a16:creationId xmlns:a16="http://schemas.microsoft.com/office/drawing/2014/main" id="{538628B6-D0A1-A6E9-D3C6-6E28236EB1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184" y="1575461"/>
            <a:ext cx="5800216" cy="3395932"/>
          </a:xfrm>
          <a:prstGeom prst="rect">
            <a:avLst/>
          </a:prstGeom>
        </p:spPr>
      </p:pic>
      <p:pic>
        <p:nvPicPr>
          <p:cNvPr id="8" name="Picture 7" descr="A close-up of a sign&#10;&#10;AI-generated content may be incorrect.">
            <a:extLst>
              <a:ext uri="{FF2B5EF4-FFF2-40B4-BE49-F238E27FC236}">
                <a16:creationId xmlns:a16="http://schemas.microsoft.com/office/drawing/2014/main" id="{8A078C1D-FCA0-A457-07B3-5D28D61910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671" y="2313230"/>
            <a:ext cx="4600354" cy="213916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3432F-FC69-D9C5-BC5C-CD79A2F5B1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8" y="5070346"/>
            <a:ext cx="9496427" cy="1385266"/>
          </a:xfrm>
        </p:spPr>
        <p:txBody>
          <a:bodyPr>
            <a:normAutofit/>
          </a:bodyPr>
          <a:lstStyle/>
          <a:p>
            <a:r>
              <a:rPr lang="en-US" sz="2000"/>
              <a:t>One </a:t>
            </a:r>
            <a:r>
              <a:rPr lang="en-US" sz="2000" b="1"/>
              <a:t>UniProt_ID</a:t>
            </a:r>
            <a:r>
              <a:rPr lang="en-US" sz="2000"/>
              <a:t> </a:t>
            </a:r>
            <a:r>
              <a:rPr lang="en-US" sz="2000" dirty="0"/>
              <a:t>→ many residue-centered windows</a:t>
            </a:r>
          </a:p>
          <a:p>
            <a:r>
              <a:rPr lang="en-US" sz="2000" dirty="0"/>
              <a:t>Each window = one training sample</a:t>
            </a:r>
          </a:p>
          <a:p>
            <a:r>
              <a:rPr lang="en-US" sz="2000" dirty="0"/>
              <a:t>Windows share protein context but differ locally</a:t>
            </a:r>
          </a:p>
          <a:p>
            <a:endParaRPr lang="en-US" sz="200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39A920C0-550F-14B7-C769-45958D3908D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8C414690-F2EC-8B30-5FB2-92AFDFCE657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212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DEE35097-2554-0B51-F5FF-623E219677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11804603"/>
              </p:ext>
            </p:extLst>
          </p:nvPr>
        </p:nvGraphicFramePr>
        <p:xfrm>
          <a:off x="187872" y="114300"/>
          <a:ext cx="11816255" cy="6629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9124">
                  <a:extLst>
                    <a:ext uri="{9D8B030D-6E8A-4147-A177-3AD203B41FA5}">
                      <a16:colId xmlns:a16="http://schemas.microsoft.com/office/drawing/2014/main" val="3474048427"/>
                    </a:ext>
                  </a:extLst>
                </a:gridCol>
                <a:gridCol w="8577131">
                  <a:extLst>
                    <a:ext uri="{9D8B030D-6E8A-4147-A177-3AD203B41FA5}">
                      <a16:colId xmlns:a16="http://schemas.microsoft.com/office/drawing/2014/main" val="2556164408"/>
                    </a:ext>
                  </a:extLst>
                </a:gridCol>
              </a:tblGrid>
              <a:tr h="405828">
                <a:tc>
                  <a:txBody>
                    <a:bodyPr/>
                    <a:lstStyle/>
                    <a:p>
                      <a:r>
                        <a:rPr lang="en-US" sz="2400" dirty="0"/>
                        <a:t>FEATURES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685087"/>
                  </a:ext>
                </a:extLst>
              </a:tr>
              <a:tr h="40582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original_sequence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effectLst/>
                        </a:rPr>
                        <a:t>Fixed-length residue window (e.g. 101 aa) centered on the candidate PTM site.</a:t>
                      </a:r>
                    </a:p>
                  </a:txBody>
                  <a:tcPr marL="85725" marR="85725" marT="47625" marB="47625" anchor="ctr"/>
                </a:tc>
                <a:extLst>
                  <a:ext uri="{0D108BD9-81ED-4DB2-BD59-A6C34878D82A}">
                    <a16:rowId xmlns:a16="http://schemas.microsoft.com/office/drawing/2014/main" val="1502348281"/>
                  </a:ext>
                </a:extLst>
              </a:tr>
              <a:tr h="405828">
                <a:tc>
                  <a:txBody>
                    <a:bodyPr/>
                    <a:lstStyle/>
                    <a:p>
                      <a:r>
                        <a:rPr lang="en-US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ptm_type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effectLst/>
                        </a:rPr>
                        <a:t>Binary label: 1 = PTM site at center, 0 = non-PTM.</a:t>
                      </a:r>
                    </a:p>
                  </a:txBody>
                  <a:tcPr marL="85725" marR="85725" marT="47625" marB="47625" anchor="ctr"/>
                </a:tc>
                <a:extLst>
                  <a:ext uri="{0D108BD9-81ED-4DB2-BD59-A6C34878D82A}">
                    <a16:rowId xmlns:a16="http://schemas.microsoft.com/office/drawing/2014/main" val="2559140914"/>
                  </a:ext>
                </a:extLst>
              </a:tr>
              <a:tr h="405828">
                <a:tc>
                  <a:txBody>
                    <a:bodyPr/>
                    <a:lstStyle/>
                    <a:p>
                      <a:r>
                        <a:rPr lang="en-US" sz="1800" b="1" i="0" strike="noStrike" kern="1200" dirty="0" err="1">
                          <a:solidFill>
                            <a:schemeClr val="dk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UniProt_ID</a:t>
                      </a:r>
                      <a:endParaRPr lang="en-US" strike="noStrike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 err="1">
                          <a:effectLst/>
                        </a:rPr>
                        <a:t>UniProt</a:t>
                      </a:r>
                      <a:r>
                        <a:rPr lang="en-US" dirty="0">
                          <a:effectLst/>
                        </a:rPr>
                        <a:t> accession of the protein; used for grouping and protein-level train/test split.</a:t>
                      </a:r>
                    </a:p>
                  </a:txBody>
                  <a:tcPr marL="85725" marR="85725" marT="47625" marB="47625" anchor="ctr"/>
                </a:tc>
                <a:extLst>
                  <a:ext uri="{0D108BD9-81ED-4DB2-BD59-A6C34878D82A}">
                    <a16:rowId xmlns:a16="http://schemas.microsoft.com/office/drawing/2014/main" val="293921357"/>
                  </a:ext>
                </a:extLst>
              </a:tr>
              <a:tr h="405828">
                <a:tc>
                  <a:txBody>
                    <a:bodyPr/>
                    <a:lstStyle/>
                    <a:p>
                      <a:r>
                        <a:rPr lang="en-US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embedding_dispersion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effectLst/>
                        </a:rPr>
                        <a:t>Spread/variance of residue embeddings over the full window.</a:t>
                      </a:r>
                    </a:p>
                  </a:txBody>
                  <a:tcPr marL="85725" marR="85725" marT="47625" marB="47625" anchor="ctr"/>
                </a:tc>
                <a:extLst>
                  <a:ext uri="{0D108BD9-81ED-4DB2-BD59-A6C34878D82A}">
                    <a16:rowId xmlns:a16="http://schemas.microsoft.com/office/drawing/2014/main" val="2426496247"/>
                  </a:ext>
                </a:extLst>
              </a:tr>
              <a:tr h="7046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 dirty="0" err="1">
                          <a:effectLst/>
                        </a:rPr>
                        <a:t>center_window_dispersion</a:t>
                      </a:r>
                      <a:endParaRPr lang="en-US" dirty="0">
                        <a:effectLst/>
                      </a:endParaRPr>
                    </a:p>
                  </a:txBody>
                  <a:tcPr marL="85725" marR="85725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effectLst/>
                        </a:rPr>
                        <a:t>Spread of embeddings over the center region of the window.</a:t>
                      </a:r>
                    </a:p>
                  </a:txBody>
                  <a:tcPr marL="85725" marR="85725" marT="47625" marB="47625" anchor="ctr"/>
                </a:tc>
                <a:extLst>
                  <a:ext uri="{0D108BD9-81ED-4DB2-BD59-A6C34878D82A}">
                    <a16:rowId xmlns:a16="http://schemas.microsoft.com/office/drawing/2014/main" val="483087596"/>
                  </a:ext>
                </a:extLst>
              </a:tr>
              <a:tr h="405828">
                <a:tc>
                  <a:txBody>
                    <a:bodyPr/>
                    <a:lstStyle/>
                    <a:p>
                      <a:r>
                        <a:rPr lang="en-US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embedding_entropy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effectLst/>
                        </a:rPr>
                        <a:t>Entropy of the embedding distribution over the full window.</a:t>
                      </a:r>
                    </a:p>
                  </a:txBody>
                  <a:tcPr marL="85725" marR="85725" marT="47625" marB="47625" anchor="ctr"/>
                </a:tc>
                <a:extLst>
                  <a:ext uri="{0D108BD9-81ED-4DB2-BD59-A6C34878D82A}">
                    <a16:rowId xmlns:a16="http://schemas.microsoft.com/office/drawing/2014/main" val="2473923936"/>
                  </a:ext>
                </a:extLst>
              </a:tr>
              <a:tr h="7046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 dirty="0" err="1">
                          <a:effectLst/>
                        </a:rPr>
                        <a:t>center_window_entropy</a:t>
                      </a:r>
                      <a:endParaRPr lang="en-US" dirty="0">
                        <a:effectLst/>
                      </a:endParaRPr>
                    </a:p>
                  </a:txBody>
                  <a:tcPr marL="85725" marR="85725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effectLst/>
                        </a:rPr>
                        <a:t>Entropy of embeddings over the center region.</a:t>
                      </a:r>
                    </a:p>
                  </a:txBody>
                  <a:tcPr marL="85725" marR="85725" marT="47625" marB="47625" anchor="ctr"/>
                </a:tc>
                <a:extLst>
                  <a:ext uri="{0D108BD9-81ED-4DB2-BD59-A6C34878D82A}">
                    <a16:rowId xmlns:a16="http://schemas.microsoft.com/office/drawing/2014/main" val="542060371"/>
                  </a:ext>
                </a:extLst>
              </a:tr>
              <a:tr h="405828">
                <a:tc>
                  <a:txBody>
                    <a:bodyPr/>
                    <a:lstStyle/>
                    <a:p>
                      <a:r>
                        <a:rPr lang="en-US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svd_entropy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effectLst/>
                        </a:rPr>
                        <a:t>Entropy from SVD of the embedding matrix (sequence-complexity measure).</a:t>
                      </a:r>
                    </a:p>
                  </a:txBody>
                  <a:tcPr marL="85725" marR="85725" marT="47625" marB="47625" anchor="ctr"/>
                </a:tc>
                <a:extLst>
                  <a:ext uri="{0D108BD9-81ED-4DB2-BD59-A6C34878D82A}">
                    <a16:rowId xmlns:a16="http://schemas.microsoft.com/office/drawing/2014/main" val="2149420236"/>
                  </a:ext>
                </a:extLst>
              </a:tr>
              <a:tr h="405828">
                <a:tc>
                  <a:txBody>
                    <a:bodyPr/>
                    <a:lstStyle/>
                    <a:p>
                      <a:r>
                        <a:rPr lang="en-US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center_svd_entropy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effectLst/>
                        </a:rPr>
                        <a:t>SVD-based entropy for the center window.</a:t>
                      </a:r>
                    </a:p>
                  </a:txBody>
                  <a:tcPr marL="85725" marR="85725" marT="47625" marB="47625" anchor="ctr"/>
                </a:tc>
                <a:extLst>
                  <a:ext uri="{0D108BD9-81ED-4DB2-BD59-A6C34878D82A}">
                    <a16:rowId xmlns:a16="http://schemas.microsoft.com/office/drawing/2014/main" val="2157529398"/>
                  </a:ext>
                </a:extLst>
              </a:tr>
              <a:tr h="405828">
                <a:tc>
                  <a:txBody>
                    <a:bodyPr/>
                    <a:lstStyle/>
                    <a:p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cluster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effectLst/>
                        </a:rPr>
                        <a:t>Numeric cluster ID from complexity-based clustering (e.g. 0/1).</a:t>
                      </a:r>
                    </a:p>
                  </a:txBody>
                  <a:tcPr marL="85725" marR="85725" marT="47625" marB="47625" anchor="ctr"/>
                </a:tc>
                <a:extLst>
                  <a:ext uri="{0D108BD9-81ED-4DB2-BD59-A6C34878D82A}">
                    <a16:rowId xmlns:a16="http://schemas.microsoft.com/office/drawing/2014/main" val="3499344302"/>
                  </a:ext>
                </a:extLst>
              </a:tr>
              <a:tr h="7046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 dirty="0" err="1">
                          <a:effectLst/>
                        </a:rPr>
                        <a:t>cluster_label</a:t>
                      </a:r>
                      <a:endParaRPr lang="en-US" dirty="0">
                        <a:effectLst/>
                      </a:endParaRPr>
                    </a:p>
                  </a:txBody>
                  <a:tcPr marL="85725" marR="85725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effectLst/>
                        </a:rPr>
                        <a:t>Categorical complexity label: LCR (low-complexity region) or HCR (high-complexity region).</a:t>
                      </a:r>
                    </a:p>
                  </a:txBody>
                  <a:tcPr marL="85725" marR="85725" marT="47625" marB="47625" anchor="ctr"/>
                </a:tc>
                <a:extLst>
                  <a:ext uri="{0D108BD9-81ED-4DB2-BD59-A6C34878D82A}">
                    <a16:rowId xmlns:a16="http://schemas.microsoft.com/office/drawing/2014/main" val="3877228272"/>
                  </a:ext>
                </a:extLst>
              </a:tr>
              <a:tr h="405828">
                <a:tc>
                  <a:txBody>
                    <a:bodyPr/>
                    <a:lstStyle/>
                    <a:p>
                      <a:r>
                        <a:rPr lang="en-US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LCR_prob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effectLst/>
                        </a:rPr>
                        <a:t>Predicted probability that the window lies in a low-complexity region.</a:t>
                      </a:r>
                    </a:p>
                  </a:txBody>
                  <a:tcPr marL="85725" marR="85725" marT="47625" marB="47625" anchor="ctr"/>
                </a:tc>
                <a:extLst>
                  <a:ext uri="{0D108BD9-81ED-4DB2-BD59-A6C34878D82A}">
                    <a16:rowId xmlns:a16="http://schemas.microsoft.com/office/drawing/2014/main" val="1190788851"/>
                  </a:ext>
                </a:extLst>
              </a:tr>
              <a:tr h="405828">
                <a:tc>
                  <a:txBody>
                    <a:bodyPr/>
                    <a:lstStyle/>
                    <a:p>
                      <a:r>
                        <a:rPr lang="en-US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HCR_prob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effectLst/>
                        </a:rPr>
                        <a:t>Predicted probability that the window lies in a high-complexity region.</a:t>
                      </a:r>
                    </a:p>
                  </a:txBody>
                  <a:tcPr marL="85725" marR="85725" marT="47625" marB="47625" anchor="ctr"/>
                </a:tc>
                <a:extLst>
                  <a:ext uri="{0D108BD9-81ED-4DB2-BD59-A6C34878D82A}">
                    <a16:rowId xmlns:a16="http://schemas.microsoft.com/office/drawing/2014/main" val="2397946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4489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D108BB-BD07-6C89-55BC-85A46DEB6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1"/>
            <a:ext cx="4959603" cy="1642969"/>
          </a:xfrm>
        </p:spPr>
        <p:txBody>
          <a:bodyPr anchor="b">
            <a:normAutofit/>
          </a:bodyPr>
          <a:lstStyle/>
          <a:p>
            <a:r>
              <a:rPr lang="en-US" sz="4000" dirty="0"/>
              <a:t>BASELINE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24A16-BAFD-CDBA-C947-B2E4163937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397" y="2418408"/>
            <a:ext cx="4959603" cy="3522569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Representations</a:t>
            </a:r>
            <a:r>
              <a:rPr lang="en-US" sz="1700" dirty="0"/>
              <a:t>:</a:t>
            </a:r>
          </a:p>
          <a:p>
            <a:r>
              <a:rPr lang="en-US" sz="1700" dirty="0"/>
              <a:t>71-residue window context</a:t>
            </a:r>
          </a:p>
          <a:p>
            <a:r>
              <a:rPr lang="en-US" sz="1700" dirty="0"/>
              <a:t>One-hot encoded (21 symbols) + 11 numeric</a:t>
            </a:r>
          </a:p>
          <a:p>
            <a:r>
              <a:rPr lang="en-US" sz="1700" dirty="0"/>
              <a:t>Total input dimension: 1502</a:t>
            </a:r>
          </a:p>
          <a:p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Architecture &amp; Hyperparameters</a:t>
            </a:r>
            <a:r>
              <a:rPr lang="en-US" sz="1700" dirty="0"/>
              <a:t>:</a:t>
            </a:r>
          </a:p>
          <a:p>
            <a:r>
              <a:rPr lang="en-US" sz="1700" dirty="0"/>
              <a:t>1502 → 512 → 256 → 1 (</a:t>
            </a:r>
            <a:r>
              <a:rPr lang="en-US" sz="1700" dirty="0" err="1"/>
              <a:t>ReLU</a:t>
            </a:r>
            <a:r>
              <a:rPr lang="en-US" sz="1700" dirty="0"/>
              <a:t>/Dropout 0.3)</a:t>
            </a:r>
          </a:p>
          <a:p>
            <a:r>
              <a:rPr lang="en-US" sz="1700" dirty="0"/>
              <a:t>BCE + </a:t>
            </a:r>
            <a:r>
              <a:rPr lang="en-US" sz="1700" dirty="0" err="1"/>
              <a:t>pos_weight</a:t>
            </a:r>
            <a:r>
              <a:rPr lang="en-US" sz="1700" dirty="0"/>
              <a:t>, Adam 1e-3, 50 Epochs</a:t>
            </a:r>
          </a:p>
          <a:p>
            <a:pPr marL="0" indent="0">
              <a:buNone/>
            </a:pPr>
            <a:br>
              <a:rPr lang="en-US" sz="1700" dirty="0"/>
            </a:br>
            <a:endParaRPr lang="en-US" sz="1700" dirty="0"/>
          </a:p>
          <a:p>
            <a:endParaRPr lang="en-US" sz="1700" dirty="0"/>
          </a:p>
        </p:txBody>
      </p:sp>
      <p:pic>
        <p:nvPicPr>
          <p:cNvPr id="4098" name="Picture 2" descr="A diagram of a network&#10;&#10;AI-generated content may be incorrect.">
            <a:extLst>
              <a:ext uri="{FF2B5EF4-FFF2-40B4-BE49-F238E27FC236}">
                <a16:creationId xmlns:a16="http://schemas.microsoft.com/office/drawing/2014/main" id="{5AE92284-7409-ADA7-6094-C14510CA8E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12442" y="1518786"/>
            <a:ext cx="5511392" cy="4003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05" name="Rectangle 4104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7" name="Rectangle 4106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756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C7FE15-634E-21FC-12F5-08AD40480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1"/>
            <a:ext cx="4959603" cy="1642969"/>
          </a:xfrm>
        </p:spPr>
        <p:txBody>
          <a:bodyPr anchor="b">
            <a:normAutofit/>
          </a:bodyPr>
          <a:lstStyle/>
          <a:p>
            <a:r>
              <a:rPr lang="en-US" sz="4000" dirty="0"/>
              <a:t>RESULTS AND NEXT STEPS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76CDF0-CE6F-1906-847A-56AF402C44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397" y="2418408"/>
            <a:ext cx="4959603" cy="3522569"/>
          </a:xfrm>
        </p:spPr>
        <p:txBody>
          <a:bodyPr anchor="t">
            <a:normAutofit/>
          </a:bodyPr>
          <a:lstStyle/>
          <a:p>
            <a:r>
              <a:rPr lang="en-US" sz="2000" dirty="0"/>
              <a:t>Develop </a:t>
            </a:r>
            <a:r>
              <a:rPr lang="en-US" sz="2000"/>
              <a:t>ProtMAMBA</a:t>
            </a:r>
            <a:r>
              <a:rPr lang="en-US" sz="2000" dirty="0"/>
              <a:t> prototype for Milestone 2</a:t>
            </a:r>
          </a:p>
          <a:p>
            <a:r>
              <a:rPr lang="en-US" sz="2000" dirty="0"/>
              <a:t>Fine tune hyperparameters in </a:t>
            </a:r>
            <a:r>
              <a:rPr lang="en-US" sz="2000"/>
              <a:t>ProTMAMBA</a:t>
            </a:r>
            <a:r>
              <a:rPr lang="en-US" sz="2000" dirty="0"/>
              <a:t> for Milestone 3</a:t>
            </a:r>
          </a:p>
        </p:txBody>
      </p:sp>
      <p:pic>
        <p:nvPicPr>
          <p:cNvPr id="9" name="Picture 8" descr="A chart of a number of colors&#10;&#10;AI-generated content may be incorrect.">
            <a:extLst>
              <a:ext uri="{FF2B5EF4-FFF2-40B4-BE49-F238E27FC236}">
                <a16:creationId xmlns:a16="http://schemas.microsoft.com/office/drawing/2014/main" id="{8C5BEF9C-64D1-A5BD-C999-FE79355D9C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2442" y="978025"/>
            <a:ext cx="5201023" cy="4488192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6856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A2F05A-DEFB-224D-EDF3-71690925A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QUESTIONS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33CF80-7313-F5CE-4950-B4A3A6A7FA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7512331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457</TotalTime>
  <Words>716</Words>
  <Application>Microsoft Macintosh PowerPoint</Application>
  <PresentationFormat>Widescreen</PresentationFormat>
  <Paragraphs>104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Inter</vt:lpstr>
      <vt:lpstr>Office Theme</vt:lpstr>
      <vt:lpstr>PREDICTION OF PTM SITES USING ProtMAMBA</vt:lpstr>
      <vt:lpstr>RECAP</vt:lpstr>
      <vt:lpstr>DATASETS IN SCOPE</vt:lpstr>
      <vt:lpstr>WINDOW/SEQUENCE CHARACTERISTICS</vt:lpstr>
      <vt:lpstr>PowerPoint Presentation</vt:lpstr>
      <vt:lpstr>BASELINE MODEL</vt:lpstr>
      <vt:lpstr>RESULTS AND NEXT STEPS</vt:lpstr>
      <vt:lpstr>QUESTIONS 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 Chauhan (RIT Student)</dc:creator>
  <cp:lastModifiedBy>Harsh Chauhan (RIT Student)</cp:lastModifiedBy>
  <cp:revision>2</cp:revision>
  <dcterms:created xsi:type="dcterms:W3CDTF">2026-02-08T23:03:29Z</dcterms:created>
  <dcterms:modified xsi:type="dcterms:W3CDTF">2026-02-09T06:40:45Z</dcterms:modified>
</cp:coreProperties>
</file>